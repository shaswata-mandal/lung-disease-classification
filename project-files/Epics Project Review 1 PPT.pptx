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Public Sans Bold" charset="1" panose="00000000000000000000"/>
      <p:regular r:id="rId29"/>
    </p:embeddedFont>
    <p:embeddedFont>
      <p:font typeface="Playfair Display" charset="1" panose="00000500000000000000"/>
      <p:regular r:id="rId30"/>
    </p:embeddedFont>
    <p:embeddedFont>
      <p:font typeface="Public Sans" charset="1" panose="00000000000000000000"/>
      <p:regular r:id="rId31"/>
    </p:embeddedFont>
    <p:embeddedFont>
      <p:font typeface="Playfair Display Bold" charset="1" panose="00000800000000000000"/>
      <p:regular r:id="rId32"/>
    </p:embeddedFont>
    <p:embeddedFont>
      <p:font typeface="Public Sans Medium" charset="1" panose="00000000000000000000"/>
      <p:regular r:id="rId33"/>
    </p:embeddedFont>
    <p:embeddedFont>
      <p:font typeface="Playfair Display Italics" charset="1" panose="0000050000000000000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jpeg" Type="http://schemas.openxmlformats.org/officeDocument/2006/relationships/image"/><Relationship Id="rId4" Target="../media/image8.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9.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jpeg" Type="http://schemas.openxmlformats.org/officeDocument/2006/relationships/image"/><Relationship Id="rId4" Target="../media/image11.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3.jpeg" Type="http://schemas.openxmlformats.org/officeDocument/2006/relationships/image"/><Relationship Id="rId4" Target="../media/image14.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5.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6.jpeg" Type="http://schemas.openxmlformats.org/officeDocument/2006/relationships/image"/><Relationship Id="rId4" Target="../media/image17.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8.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850985" y="4657911"/>
            <a:ext cx="16630770" cy="0"/>
          </a:xfrm>
          <a:prstGeom prst="line">
            <a:avLst/>
          </a:prstGeom>
          <a:ln cap="flat" w="9525">
            <a:solidFill>
              <a:srgbClr val="2B2C30"/>
            </a:solidFill>
            <a:prstDash val="solid"/>
            <a:headEnd type="none" len="sm" w="sm"/>
            <a:tailEnd type="none" len="sm" w="sm"/>
          </a:ln>
        </p:spPr>
      </p:sp>
      <p:sp>
        <p:nvSpPr>
          <p:cNvPr name="Freeform 3" id="3"/>
          <p:cNvSpPr/>
          <p:nvPr/>
        </p:nvSpPr>
        <p:spPr>
          <a:xfrm flipH="false" flipV="false" rot="0">
            <a:off x="14487580" y="7589606"/>
            <a:ext cx="2994175" cy="1764537"/>
          </a:xfrm>
          <a:custGeom>
            <a:avLst/>
            <a:gdLst/>
            <a:ahLst/>
            <a:cxnLst/>
            <a:rect r="r" b="b" t="t" l="l"/>
            <a:pathLst>
              <a:path h="1764537" w="2994175">
                <a:moveTo>
                  <a:pt x="0" y="0"/>
                </a:moveTo>
                <a:lnTo>
                  <a:pt x="2994175" y="0"/>
                </a:lnTo>
                <a:lnTo>
                  <a:pt x="2994175" y="1764537"/>
                </a:lnTo>
                <a:lnTo>
                  <a:pt x="0" y="1764537"/>
                </a:lnTo>
                <a:lnTo>
                  <a:pt x="0" y="0"/>
                </a:lnTo>
                <a:close/>
              </a:path>
            </a:pathLst>
          </a:custGeom>
          <a:blipFill>
            <a:blip r:embed="rId2"/>
            <a:stretch>
              <a:fillRect l="-16444" t="-68364" r="-20598" b="-64178"/>
            </a:stretch>
          </a:blipFill>
        </p:spPr>
      </p:sp>
      <p:sp>
        <p:nvSpPr>
          <p:cNvPr name="TextBox 4" id="4"/>
          <p:cNvSpPr txBox="true"/>
          <p:nvPr/>
        </p:nvSpPr>
        <p:spPr>
          <a:xfrm rot="0">
            <a:off x="850974" y="4775088"/>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EPICS PROJECT ( REVIEW 1 )</a:t>
            </a:r>
          </a:p>
        </p:txBody>
      </p:sp>
      <p:sp>
        <p:nvSpPr>
          <p:cNvPr name="TextBox 5" id="5"/>
          <p:cNvSpPr txBox="true"/>
          <p:nvPr/>
        </p:nvSpPr>
        <p:spPr>
          <a:xfrm rot="0">
            <a:off x="850974" y="1394014"/>
            <a:ext cx="17111179" cy="3022485"/>
          </a:xfrm>
          <a:prstGeom prst="rect">
            <a:avLst/>
          </a:prstGeom>
        </p:spPr>
        <p:txBody>
          <a:bodyPr anchor="t" rtlCol="false" tIns="0" lIns="0" bIns="0" rIns="0">
            <a:spAutoFit/>
          </a:bodyPr>
          <a:lstStyle/>
          <a:p>
            <a:pPr algn="just">
              <a:lnSpc>
                <a:spcPts val="8014"/>
              </a:lnSpc>
            </a:pPr>
            <a:r>
              <a:rPr lang="en-US" sz="6261" spc="31">
                <a:solidFill>
                  <a:srgbClr val="2B2C30"/>
                </a:solidFill>
                <a:latin typeface="Playfair Display"/>
                <a:ea typeface="Playfair Display"/>
                <a:cs typeface="Playfair Display"/>
                <a:sym typeface="Playfair Display"/>
              </a:rPr>
              <a:t>Comparative Analysis of Transfer Learning</a:t>
            </a:r>
          </a:p>
          <a:p>
            <a:pPr algn="just">
              <a:lnSpc>
                <a:spcPts val="8014"/>
              </a:lnSpc>
            </a:pPr>
            <a:r>
              <a:rPr lang="en-US" sz="6261" spc="31">
                <a:solidFill>
                  <a:srgbClr val="2B2C30"/>
                </a:solidFill>
                <a:latin typeface="Playfair Display"/>
                <a:ea typeface="Playfair Display"/>
                <a:cs typeface="Playfair Display"/>
                <a:sym typeface="Playfair Display"/>
              </a:rPr>
              <a:t>Architectures for Multi Class Lung Disease</a:t>
            </a:r>
          </a:p>
          <a:p>
            <a:pPr algn="just">
              <a:lnSpc>
                <a:spcPts val="8014"/>
              </a:lnSpc>
            </a:pPr>
            <a:r>
              <a:rPr lang="en-US" sz="6261" spc="31">
                <a:solidFill>
                  <a:srgbClr val="2B2C30"/>
                </a:solidFill>
                <a:latin typeface="Playfair Display"/>
                <a:ea typeface="Playfair Display"/>
                <a:cs typeface="Playfair Display"/>
                <a:sym typeface="Playfair Display"/>
              </a:rPr>
              <a:t>Classification Using Chest X Ray Images</a:t>
            </a:r>
          </a:p>
        </p:txBody>
      </p:sp>
      <p:sp>
        <p:nvSpPr>
          <p:cNvPr name="TextBox 6" id="6"/>
          <p:cNvSpPr txBox="true"/>
          <p:nvPr/>
        </p:nvSpPr>
        <p:spPr>
          <a:xfrm rot="0">
            <a:off x="850985" y="5999011"/>
            <a:ext cx="7862435" cy="2617470"/>
          </a:xfrm>
          <a:prstGeom prst="rect">
            <a:avLst/>
          </a:prstGeom>
        </p:spPr>
        <p:txBody>
          <a:bodyPr anchor="t" rtlCol="false" tIns="0" lIns="0" bIns="0" rIns="0">
            <a:spAutoFit/>
          </a:bodyPr>
          <a:lstStyle/>
          <a:p>
            <a:pPr algn="l">
              <a:lnSpc>
                <a:spcPts val="3450"/>
              </a:lnSpc>
            </a:pPr>
            <a:r>
              <a:rPr lang="en-US" sz="2300">
                <a:solidFill>
                  <a:srgbClr val="2B2C30"/>
                </a:solidFill>
                <a:latin typeface="Public Sans"/>
                <a:ea typeface="Public Sans"/>
                <a:cs typeface="Public Sans"/>
                <a:sym typeface="Public Sans"/>
              </a:rPr>
              <a:t>Shaswata Mandal (23BHI10018)</a:t>
            </a:r>
          </a:p>
          <a:p>
            <a:pPr algn="l">
              <a:lnSpc>
                <a:spcPts val="3450"/>
              </a:lnSpc>
            </a:pPr>
            <a:r>
              <a:rPr lang="en-US" sz="2300">
                <a:solidFill>
                  <a:srgbClr val="2B2C30"/>
                </a:solidFill>
                <a:latin typeface="Public Sans"/>
                <a:ea typeface="Public Sans"/>
                <a:cs typeface="Public Sans"/>
                <a:sym typeface="Public Sans"/>
              </a:rPr>
              <a:t>Rishabh Nayak(23BHI10166)</a:t>
            </a:r>
          </a:p>
          <a:p>
            <a:pPr algn="l">
              <a:lnSpc>
                <a:spcPts val="3450"/>
              </a:lnSpc>
            </a:pPr>
            <a:r>
              <a:rPr lang="en-US" sz="2300">
                <a:solidFill>
                  <a:srgbClr val="2B2C30"/>
                </a:solidFill>
                <a:latin typeface="Public Sans"/>
                <a:ea typeface="Public Sans"/>
                <a:cs typeface="Public Sans"/>
                <a:sym typeface="Public Sans"/>
              </a:rPr>
              <a:t>Arunim Gogoi (23BAI11381)</a:t>
            </a:r>
          </a:p>
          <a:p>
            <a:pPr algn="l">
              <a:lnSpc>
                <a:spcPts val="3450"/>
              </a:lnSpc>
            </a:pPr>
            <a:r>
              <a:rPr lang="en-US" sz="2300">
                <a:solidFill>
                  <a:srgbClr val="2B2C30"/>
                </a:solidFill>
                <a:latin typeface="Public Sans"/>
                <a:ea typeface="Public Sans"/>
                <a:cs typeface="Public Sans"/>
                <a:sym typeface="Public Sans"/>
              </a:rPr>
              <a:t>Anwesh Bhattacharya (23BCE11821)</a:t>
            </a:r>
          </a:p>
          <a:p>
            <a:pPr algn="l">
              <a:lnSpc>
                <a:spcPts val="3450"/>
              </a:lnSpc>
            </a:pPr>
            <a:r>
              <a:rPr lang="en-US" sz="2300">
                <a:solidFill>
                  <a:srgbClr val="2B2C30"/>
                </a:solidFill>
                <a:latin typeface="Public Sans"/>
                <a:ea typeface="Public Sans"/>
                <a:cs typeface="Public Sans"/>
                <a:sym typeface="Public Sans"/>
              </a:rPr>
              <a:t>Md Jaabir Islam (23BHI10150)</a:t>
            </a:r>
          </a:p>
          <a:p>
            <a:pPr algn="l">
              <a:lnSpc>
                <a:spcPts val="3450"/>
              </a:lnSpc>
            </a:pPr>
            <a:r>
              <a:rPr lang="en-US" sz="2300">
                <a:solidFill>
                  <a:srgbClr val="2B2C30"/>
                </a:solidFill>
                <a:latin typeface="Public Sans"/>
                <a:ea typeface="Public Sans"/>
                <a:cs typeface="Public Sans"/>
                <a:sym typeface="Public Sans"/>
              </a:rPr>
              <a:t>Dhyan N.R. (23BAS10001)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CONTENTS</a:t>
            </a:r>
          </a:p>
        </p:txBody>
      </p:sp>
      <p:sp>
        <p:nvSpPr>
          <p:cNvPr name="AutoShape 3" id="3"/>
          <p:cNvSpPr/>
          <p:nvPr/>
        </p:nvSpPr>
        <p:spPr>
          <a:xfrm flipV="true">
            <a:off x="1028695" y="1760761"/>
            <a:ext cx="16230594" cy="38509"/>
          </a:xfrm>
          <a:prstGeom prst="line">
            <a:avLst/>
          </a:prstGeom>
          <a:ln cap="flat" w="9525">
            <a:solidFill>
              <a:srgbClr val="2B2C30"/>
            </a:solidFill>
            <a:prstDash val="solid"/>
            <a:headEnd type="none" len="sm" w="sm"/>
            <a:tailEnd type="none" len="sm" w="sm"/>
          </a:ln>
        </p:spPr>
      </p:sp>
      <p:sp>
        <p:nvSpPr>
          <p:cNvPr name="TextBox 4" id="4"/>
          <p:cNvSpPr txBox="true"/>
          <p:nvPr/>
        </p:nvSpPr>
        <p:spPr>
          <a:xfrm rot="0">
            <a:off x="1028700" y="2020523"/>
            <a:ext cx="11748315" cy="3895598"/>
          </a:xfrm>
          <a:prstGeom prst="rect">
            <a:avLst/>
          </a:prstGeom>
        </p:spPr>
        <p:txBody>
          <a:bodyPr anchor="t" rtlCol="false" tIns="0" lIns="0" bIns="0" rIns="0">
            <a:spAutoFit/>
          </a:bodyPr>
          <a:lstStyle/>
          <a:p>
            <a:pPr algn="l" marL="604519" indent="-302260" lvl="1">
              <a:lnSpc>
                <a:spcPts val="5235"/>
              </a:lnSpc>
              <a:buFont typeface="Arial"/>
              <a:buChar char="•"/>
            </a:pPr>
            <a:r>
              <a:rPr lang="en-US" sz="2799">
                <a:solidFill>
                  <a:srgbClr val="2B2C30"/>
                </a:solidFill>
                <a:latin typeface="Public Sans"/>
                <a:ea typeface="Public Sans"/>
                <a:cs typeface="Public Sans"/>
                <a:sym typeface="Public Sans"/>
              </a:rPr>
              <a:t>Introduction</a:t>
            </a:r>
          </a:p>
          <a:p>
            <a:pPr algn="l" marL="604519" indent="-302260" lvl="1">
              <a:lnSpc>
                <a:spcPts val="5235"/>
              </a:lnSpc>
              <a:buFont typeface="Arial"/>
              <a:buChar char="•"/>
            </a:pPr>
            <a:r>
              <a:rPr lang="en-US" sz="2799">
                <a:solidFill>
                  <a:srgbClr val="2B2C30"/>
                </a:solidFill>
                <a:latin typeface="Public Sans"/>
                <a:ea typeface="Public Sans"/>
                <a:cs typeface="Public Sans"/>
                <a:sym typeface="Public Sans"/>
              </a:rPr>
              <a:t>Novelty of t</a:t>
            </a:r>
            <a:r>
              <a:rPr lang="en-US" sz="2799">
                <a:solidFill>
                  <a:srgbClr val="2B2C30"/>
                </a:solidFill>
                <a:latin typeface="Public Sans"/>
                <a:ea typeface="Public Sans"/>
                <a:cs typeface="Public Sans"/>
                <a:sym typeface="Public Sans"/>
              </a:rPr>
              <a:t>he project</a:t>
            </a:r>
          </a:p>
          <a:p>
            <a:pPr algn="l" marL="604519" indent="-302260" lvl="1">
              <a:lnSpc>
                <a:spcPts val="5235"/>
              </a:lnSpc>
              <a:buFont typeface="Arial"/>
              <a:buChar char="•"/>
            </a:pPr>
            <a:r>
              <a:rPr lang="en-US" sz="2799">
                <a:solidFill>
                  <a:srgbClr val="2B2C30"/>
                </a:solidFill>
                <a:latin typeface="Public Sans"/>
                <a:ea typeface="Public Sans"/>
                <a:cs typeface="Public Sans"/>
                <a:sym typeface="Public Sans"/>
              </a:rPr>
              <a:t>Real time usage</a:t>
            </a:r>
          </a:p>
          <a:p>
            <a:pPr algn="l" marL="604519" indent="-302260" lvl="1">
              <a:lnSpc>
                <a:spcPts val="5235"/>
              </a:lnSpc>
              <a:buFont typeface="Arial"/>
              <a:buChar char="•"/>
            </a:pPr>
            <a:r>
              <a:rPr lang="en-US" sz="2799">
                <a:solidFill>
                  <a:srgbClr val="2B2C30"/>
                </a:solidFill>
                <a:latin typeface="Public Sans"/>
                <a:ea typeface="Public Sans"/>
                <a:cs typeface="Public Sans"/>
                <a:sym typeface="Public Sans"/>
              </a:rPr>
              <a:t>Proposed Work and </a:t>
            </a:r>
            <a:r>
              <a:rPr lang="en-US" sz="2799">
                <a:solidFill>
                  <a:srgbClr val="2B2C30"/>
                </a:solidFill>
                <a:latin typeface="Public Sans"/>
                <a:ea typeface="Public Sans"/>
                <a:cs typeface="Public Sans"/>
                <a:sym typeface="Public Sans"/>
              </a:rPr>
              <a:t>Overall system architecture diagram.</a:t>
            </a:r>
          </a:p>
          <a:p>
            <a:pPr algn="l" marL="604519" indent="-302260" lvl="1">
              <a:lnSpc>
                <a:spcPts val="5235"/>
              </a:lnSpc>
              <a:buFont typeface="Arial"/>
              <a:buChar char="•"/>
            </a:pPr>
            <a:r>
              <a:rPr lang="en-US" sz="2799">
                <a:solidFill>
                  <a:srgbClr val="2B2C30"/>
                </a:solidFill>
                <a:latin typeface="Public Sans"/>
                <a:ea typeface="Public Sans"/>
                <a:cs typeface="Public Sans"/>
                <a:sym typeface="Public Sans"/>
              </a:rPr>
              <a:t>Result and Discussion.</a:t>
            </a:r>
          </a:p>
          <a:p>
            <a:pPr algn="l" marL="604519" indent="-302260" lvl="1">
              <a:lnSpc>
                <a:spcPts val="5235"/>
              </a:lnSpc>
              <a:buFont typeface="Arial"/>
              <a:buChar char="•"/>
            </a:pPr>
            <a:r>
              <a:rPr lang="en-US" sz="2799">
                <a:solidFill>
                  <a:srgbClr val="2B2C30"/>
                </a:solidFill>
                <a:latin typeface="Public Sans"/>
                <a:ea typeface="Public Sans"/>
                <a:cs typeface="Public Sans"/>
                <a:sym typeface="Public Sans"/>
              </a:rPr>
              <a:t>Conclusion.</a:t>
            </a:r>
          </a:p>
        </p:txBody>
      </p:sp>
      <p:sp>
        <p:nvSpPr>
          <p:cNvPr name="Freeform 5" id="5"/>
          <p:cNvSpPr/>
          <p:nvPr/>
        </p:nvSpPr>
        <p:spPr>
          <a:xfrm flipH="false" flipV="false" rot="0">
            <a:off x="14702794" y="8319977"/>
            <a:ext cx="2994175" cy="1764537"/>
          </a:xfrm>
          <a:custGeom>
            <a:avLst/>
            <a:gdLst/>
            <a:ahLst/>
            <a:cxnLst/>
            <a:rect r="r" b="b" t="t" l="l"/>
            <a:pathLst>
              <a:path h="1764537" w="2994175">
                <a:moveTo>
                  <a:pt x="0" y="0"/>
                </a:moveTo>
                <a:lnTo>
                  <a:pt x="2994176" y="0"/>
                </a:lnTo>
                <a:lnTo>
                  <a:pt x="2994176" y="1764537"/>
                </a:lnTo>
                <a:lnTo>
                  <a:pt x="0" y="1764537"/>
                </a:lnTo>
                <a:lnTo>
                  <a:pt x="0" y="0"/>
                </a:lnTo>
                <a:close/>
              </a:path>
            </a:pathLst>
          </a:custGeom>
          <a:blipFill>
            <a:blip r:embed="rId2"/>
            <a:stretch>
              <a:fillRect l="-16444" t="-68364" r="-20598" b="-64178"/>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16407" y="2200595"/>
            <a:ext cx="10907645" cy="7030714"/>
          </a:xfrm>
          <a:prstGeom prst="rect">
            <a:avLst/>
          </a:prstGeom>
        </p:spPr>
        <p:txBody>
          <a:bodyPr anchor="t" rtlCol="false" tIns="0" lIns="0" bIns="0" rIns="0">
            <a:spAutoFit/>
          </a:bodyPr>
          <a:lstStyle/>
          <a:p>
            <a:pPr algn="l" marL="464284" indent="-232142" lvl="1">
              <a:lnSpc>
                <a:spcPts val="2795"/>
              </a:lnSpc>
              <a:buFont typeface="Arial"/>
              <a:buChar char="•"/>
            </a:pPr>
            <a:r>
              <a:rPr lang="en-US" sz="2150" spc="10">
                <a:solidFill>
                  <a:srgbClr val="2B2C30"/>
                </a:solidFill>
                <a:latin typeface="Playfair Display"/>
                <a:ea typeface="Playfair Display"/>
                <a:cs typeface="Playfair Display"/>
                <a:sym typeface="Playfair Display"/>
              </a:rPr>
              <a:t>The global burden of lung diseases like </a:t>
            </a:r>
            <a:r>
              <a:rPr lang="en-US" b="true" sz="2150" spc="10">
                <a:solidFill>
                  <a:srgbClr val="2B2C30"/>
                </a:solidFill>
                <a:latin typeface="Playfair Display Bold"/>
                <a:ea typeface="Playfair Display Bold"/>
                <a:cs typeface="Playfair Display Bold"/>
                <a:sym typeface="Playfair Display Bold"/>
              </a:rPr>
              <a:t>COVID 19</a:t>
            </a:r>
            <a:r>
              <a:rPr lang="en-US" sz="2150" spc="10">
                <a:solidFill>
                  <a:srgbClr val="2B2C30"/>
                </a:solidFill>
                <a:latin typeface="Playfair Display"/>
                <a:ea typeface="Playfair Display"/>
                <a:cs typeface="Playfair Display"/>
                <a:sym typeface="Playfair Display"/>
              </a:rPr>
              <a:t>, </a:t>
            </a:r>
            <a:r>
              <a:rPr lang="en-US" b="true" sz="2150" spc="10">
                <a:solidFill>
                  <a:srgbClr val="2B2C30"/>
                </a:solidFill>
                <a:latin typeface="Playfair Display Bold"/>
                <a:ea typeface="Playfair Display Bold"/>
                <a:cs typeface="Playfair Display Bold"/>
                <a:sym typeface="Playfair Display Bold"/>
              </a:rPr>
              <a:t>Pneumonia</a:t>
            </a:r>
            <a:r>
              <a:rPr lang="en-US" sz="2150" spc="10">
                <a:solidFill>
                  <a:srgbClr val="2B2C30"/>
                </a:solidFill>
                <a:latin typeface="Playfair Display"/>
                <a:ea typeface="Playfair Display"/>
                <a:cs typeface="Playfair Display"/>
                <a:sym typeface="Playfair Display"/>
              </a:rPr>
              <a:t>, and </a:t>
            </a:r>
            <a:r>
              <a:rPr lang="en-US" b="true" sz="2150" spc="10">
                <a:solidFill>
                  <a:srgbClr val="2B2C30"/>
                </a:solidFill>
                <a:latin typeface="Playfair Display Bold"/>
                <a:ea typeface="Playfair Display Bold"/>
                <a:cs typeface="Playfair Display Bold"/>
                <a:sym typeface="Playfair Display Bold"/>
              </a:rPr>
              <a:t>Tuberculosis </a:t>
            </a:r>
            <a:r>
              <a:rPr lang="en-US" sz="2150" spc="10">
                <a:solidFill>
                  <a:srgbClr val="2B2C30"/>
                </a:solidFill>
                <a:latin typeface="Playfair Display"/>
                <a:ea typeface="Playfair Display"/>
                <a:cs typeface="Playfair Display"/>
                <a:sym typeface="Playfair Display"/>
              </a:rPr>
              <a:t>is high, especially in poorer nations, creating a critical need for </a:t>
            </a:r>
            <a:r>
              <a:rPr lang="en-US" b="true" sz="2150" spc="10">
                <a:solidFill>
                  <a:srgbClr val="2B2C30"/>
                </a:solidFill>
                <a:latin typeface="Playfair Display Bold"/>
                <a:ea typeface="Playfair Display Bold"/>
                <a:cs typeface="Playfair Display Bold"/>
                <a:sym typeface="Playfair Display Bold"/>
              </a:rPr>
              <a:t>accessible and accurate diagnostic tools.</a:t>
            </a:r>
          </a:p>
          <a:p>
            <a:pPr algn="l" marL="464284" indent="-232142" lvl="1">
              <a:lnSpc>
                <a:spcPts val="2795"/>
              </a:lnSpc>
              <a:buFont typeface="Arial"/>
              <a:buChar char="•"/>
            </a:pPr>
            <a:r>
              <a:rPr lang="en-US" b="true" sz="2150" spc="10">
                <a:solidFill>
                  <a:srgbClr val="2B2C30"/>
                </a:solidFill>
                <a:latin typeface="Playfair Display Bold"/>
                <a:ea typeface="Playfair Display Bold"/>
                <a:cs typeface="Playfair Display Bold"/>
                <a:sym typeface="Playfair Display Bold"/>
              </a:rPr>
              <a:t>Chest X rays are a common initial assessment method,</a:t>
            </a:r>
            <a:r>
              <a:rPr lang="en-US" sz="2150" spc="10">
                <a:solidFill>
                  <a:srgbClr val="2B2C30"/>
                </a:solidFill>
                <a:latin typeface="Playfair Display"/>
                <a:ea typeface="Playfair Display"/>
                <a:cs typeface="Playfair Display"/>
                <a:sym typeface="Playfair Display"/>
              </a:rPr>
              <a:t> but their interpretation requires expertise, leading to interest in automated analysis using deep learning (DL) for improved consistency.</a:t>
            </a:r>
          </a:p>
          <a:p>
            <a:pPr algn="l" marL="464284" indent="-232142" lvl="1">
              <a:lnSpc>
                <a:spcPts val="2795"/>
              </a:lnSpc>
              <a:buFont typeface="Arial"/>
              <a:buChar char="•"/>
            </a:pPr>
            <a:r>
              <a:rPr lang="en-US" sz="2150" spc="10">
                <a:solidFill>
                  <a:srgbClr val="2B2C30"/>
                </a:solidFill>
                <a:latin typeface="Playfair Display"/>
                <a:ea typeface="Playfair Display"/>
                <a:cs typeface="Playfair Display"/>
                <a:sym typeface="Playfair Display"/>
              </a:rPr>
              <a:t>Previous research has limitations, often focusing on single architectures or unbalanced datasets, necessitating a systematic comparison of multiple DL approaches on a balanced, multi class dataset.</a:t>
            </a:r>
          </a:p>
          <a:p>
            <a:pPr algn="l" marL="464284" indent="-232142" lvl="1">
              <a:lnSpc>
                <a:spcPts val="2795"/>
              </a:lnSpc>
              <a:buFont typeface="Arial"/>
              <a:buChar char="•"/>
            </a:pPr>
            <a:r>
              <a:rPr lang="en-US" sz="2150" spc="10">
                <a:solidFill>
                  <a:srgbClr val="2B2C30"/>
                </a:solidFill>
                <a:latin typeface="Playfair Display"/>
                <a:ea typeface="Playfair Display"/>
                <a:cs typeface="Playfair Display"/>
                <a:sym typeface="Playfair Display"/>
              </a:rPr>
              <a:t>This study provides a thorough investigation by training and evaluating four primary modeling strategies on a balanced dataset of chest X rays (COVID 19, Normal, Pneumonia, Tuberculosis).</a:t>
            </a:r>
          </a:p>
          <a:p>
            <a:pPr algn="l" marL="464284" indent="-232142" lvl="1">
              <a:lnSpc>
                <a:spcPts val="2795"/>
              </a:lnSpc>
              <a:buFont typeface="Arial"/>
              <a:buChar char="•"/>
            </a:pPr>
            <a:r>
              <a:rPr lang="en-US" sz="2150" spc="10">
                <a:solidFill>
                  <a:srgbClr val="2B2C30"/>
                </a:solidFill>
                <a:latin typeface="Playfair Display"/>
                <a:ea typeface="Playfair Display"/>
                <a:cs typeface="Playfair Display"/>
                <a:sym typeface="Playfair Display"/>
              </a:rPr>
              <a:t>The compared approaches include: </a:t>
            </a:r>
            <a:r>
              <a:rPr lang="en-US" b="true" sz="2150" spc="10">
                <a:solidFill>
                  <a:srgbClr val="2B2C30"/>
                </a:solidFill>
                <a:latin typeface="Playfair Display Bold"/>
                <a:ea typeface="Playfair Display Bold"/>
                <a:cs typeface="Playfair Display Bold"/>
                <a:sym typeface="Playfair Display Bold"/>
              </a:rPr>
              <a:t>a custom CNN</a:t>
            </a:r>
            <a:r>
              <a:rPr lang="en-US" sz="2150" spc="10">
                <a:solidFill>
                  <a:srgbClr val="2B2C30"/>
                </a:solidFill>
                <a:latin typeface="Playfair Display"/>
                <a:ea typeface="Playfair Display"/>
                <a:cs typeface="Playfair Display"/>
                <a:sym typeface="Playfair Display"/>
              </a:rPr>
              <a:t>, </a:t>
            </a:r>
            <a:r>
              <a:rPr lang="en-US" b="true" sz="2150" spc="10">
                <a:solidFill>
                  <a:srgbClr val="2B2C30"/>
                </a:solidFill>
                <a:latin typeface="Playfair Display Bold"/>
                <a:ea typeface="Playfair Display Bold"/>
                <a:cs typeface="Playfair Display Bold"/>
                <a:sym typeface="Playfair Display Bold"/>
              </a:rPr>
              <a:t>transfer learning with pre trained models (MobileNet, EfficientNet, ResNet, Xception)</a:t>
            </a:r>
            <a:r>
              <a:rPr lang="en-US" sz="2150" spc="10">
                <a:solidFill>
                  <a:srgbClr val="2B2C30"/>
                </a:solidFill>
                <a:latin typeface="Playfair Display"/>
                <a:ea typeface="Playfair Display"/>
                <a:cs typeface="Playfair Display"/>
                <a:sym typeface="Playfair Display"/>
              </a:rPr>
              <a:t>, an </a:t>
            </a:r>
            <a:r>
              <a:rPr lang="en-US" b="true" sz="2150" spc="10">
                <a:solidFill>
                  <a:srgbClr val="2B2C30"/>
                </a:solidFill>
                <a:latin typeface="Playfair Display Bold"/>
                <a:ea typeface="Playfair Display Bold"/>
                <a:cs typeface="Playfair Display Bold"/>
                <a:sym typeface="Playfair Display Bold"/>
              </a:rPr>
              <a:t>attention augmented EfficientNet, and an ensemble method.</a:t>
            </a:r>
          </a:p>
          <a:p>
            <a:pPr algn="l" marL="464284" indent="-232142" lvl="1">
              <a:lnSpc>
                <a:spcPts val="2795"/>
              </a:lnSpc>
              <a:buFont typeface="Arial"/>
              <a:buChar char="•"/>
            </a:pPr>
            <a:r>
              <a:rPr lang="en-US" sz="2150" spc="10">
                <a:solidFill>
                  <a:srgbClr val="2B2C30"/>
                </a:solidFill>
                <a:latin typeface="Playfair Display"/>
                <a:ea typeface="Playfair Display"/>
                <a:cs typeface="Playfair Display"/>
                <a:sym typeface="Playfair Display"/>
              </a:rPr>
              <a:t>The main goal is to </a:t>
            </a:r>
            <a:r>
              <a:rPr lang="en-US" b="true" sz="2150" spc="10">
                <a:solidFill>
                  <a:srgbClr val="2B2C30"/>
                </a:solidFill>
                <a:latin typeface="Playfair Display Bold"/>
                <a:ea typeface="Playfair Display Bold"/>
                <a:cs typeface="Playfair Display Bold"/>
                <a:sym typeface="Playfair Display Bold"/>
              </a:rPr>
              <a:t>examine the impact of these architectural choices</a:t>
            </a:r>
            <a:r>
              <a:rPr lang="en-US" sz="2150" spc="10">
                <a:solidFill>
                  <a:srgbClr val="2B2C30"/>
                </a:solidFill>
                <a:latin typeface="Playfair Display"/>
                <a:ea typeface="Playfair Display"/>
                <a:cs typeface="Playfair Display"/>
                <a:sym typeface="Playfair Display"/>
              </a:rPr>
              <a:t> on classification accuracy and reliability, with results demonstrating the strong potential of ensemble and attention based methods </a:t>
            </a:r>
            <a:r>
              <a:rPr lang="en-US" b="true" sz="2150" spc="10">
                <a:solidFill>
                  <a:srgbClr val="2B2C30"/>
                </a:solidFill>
                <a:latin typeface="Playfair Display Bold"/>
                <a:ea typeface="Playfair Display Bold"/>
                <a:cs typeface="Playfair Display Bold"/>
                <a:sym typeface="Playfair Display Bold"/>
              </a:rPr>
              <a:t>to enhance diagnostic performance</a:t>
            </a:r>
            <a:r>
              <a:rPr lang="en-US" sz="2150" spc="10">
                <a:solidFill>
                  <a:srgbClr val="2B2C30"/>
                </a:solidFill>
                <a:latin typeface="Playfair Display"/>
                <a:ea typeface="Playfair Display"/>
                <a:cs typeface="Playfair Display"/>
                <a:sym typeface="Playfair Display"/>
              </a:rPr>
              <a:t> for </a:t>
            </a:r>
            <a:r>
              <a:rPr lang="en-US" b="true" sz="2150" spc="10">
                <a:solidFill>
                  <a:srgbClr val="2B2C30"/>
                </a:solidFill>
                <a:latin typeface="Playfair Display Bold"/>
                <a:ea typeface="Playfair Display Bold"/>
                <a:cs typeface="Playfair Display Bold"/>
                <a:sym typeface="Playfair Display Bold"/>
              </a:rPr>
              <a:t>automated lung disease detection.</a:t>
            </a:r>
          </a:p>
          <a:p>
            <a:pPr algn="l">
              <a:lnSpc>
                <a:spcPts val="2795"/>
              </a:lnSpc>
            </a:pPr>
          </a:p>
        </p:txBody>
      </p:sp>
      <p:sp>
        <p:nvSpPr>
          <p:cNvPr name="AutoShape 3" id="3"/>
          <p:cNvSpPr/>
          <p:nvPr/>
        </p:nvSpPr>
        <p:spPr>
          <a:xfrm flipV="true">
            <a:off x="1028695" y="1760761"/>
            <a:ext cx="16230594" cy="38509"/>
          </a:xfrm>
          <a:prstGeom prst="line">
            <a:avLst/>
          </a:prstGeom>
          <a:ln cap="flat" w="9525">
            <a:solidFill>
              <a:srgbClr val="2B2C30"/>
            </a:solidFill>
            <a:prstDash val="solid"/>
            <a:headEnd type="none" len="sm" w="sm"/>
            <a:tailEnd type="none" len="sm" w="sm"/>
          </a:ln>
        </p:spPr>
      </p:sp>
      <p:grpSp>
        <p:nvGrpSpPr>
          <p:cNvPr name="Group 4" id="4"/>
          <p:cNvGrpSpPr/>
          <p:nvPr/>
        </p:nvGrpSpPr>
        <p:grpSpPr>
          <a:xfrm rot="0">
            <a:off x="12189639" y="2467856"/>
            <a:ext cx="5920844" cy="6022187"/>
            <a:chOff x="0" y="0"/>
            <a:chExt cx="1800880" cy="1831704"/>
          </a:xfrm>
        </p:grpSpPr>
        <p:sp>
          <p:nvSpPr>
            <p:cNvPr name="Freeform 5" id="5"/>
            <p:cNvSpPr/>
            <p:nvPr/>
          </p:nvSpPr>
          <p:spPr>
            <a:xfrm flipH="false" flipV="false" rot="0">
              <a:off x="0" y="0"/>
              <a:ext cx="1800880" cy="1831704"/>
            </a:xfrm>
            <a:custGeom>
              <a:avLst/>
              <a:gdLst/>
              <a:ahLst/>
              <a:cxnLst/>
              <a:rect r="r" b="b" t="t" l="l"/>
              <a:pathLst>
                <a:path h="1831704" w="1800880">
                  <a:moveTo>
                    <a:pt x="0" y="0"/>
                  </a:moveTo>
                  <a:lnTo>
                    <a:pt x="1800880" y="0"/>
                  </a:lnTo>
                  <a:lnTo>
                    <a:pt x="1800880" y="1831704"/>
                  </a:lnTo>
                  <a:lnTo>
                    <a:pt x="0" y="1831704"/>
                  </a:lnTo>
                  <a:close/>
                </a:path>
              </a:pathLst>
            </a:custGeom>
            <a:ln w="9525" cap="sq">
              <a:solidFill>
                <a:srgbClr val="2B2C30"/>
              </a:solidFill>
              <a:prstDash val="solid"/>
              <a:miter/>
            </a:ln>
          </p:spPr>
        </p:sp>
        <p:sp>
          <p:nvSpPr>
            <p:cNvPr name="TextBox 6" id="6"/>
            <p:cNvSpPr txBox="true"/>
            <p:nvPr/>
          </p:nvSpPr>
          <p:spPr>
            <a:xfrm>
              <a:off x="0" y="-28575"/>
              <a:ext cx="1800880" cy="1860279"/>
            </a:xfrm>
            <a:prstGeom prst="rect">
              <a:avLst/>
            </a:prstGeom>
          </p:spPr>
          <p:txBody>
            <a:bodyPr anchor="ctr" rtlCol="false" tIns="68580" lIns="68580" bIns="68580" rIns="68580"/>
            <a:lstStyle/>
            <a:p>
              <a:pPr algn="ctr">
                <a:lnSpc>
                  <a:spcPts val="1889"/>
                </a:lnSpc>
              </a:pPr>
            </a:p>
          </p:txBody>
        </p:sp>
      </p:grpSp>
      <p:sp>
        <p:nvSpPr>
          <p:cNvPr name="Freeform 7" id="7"/>
          <p:cNvSpPr/>
          <p:nvPr/>
        </p:nvSpPr>
        <p:spPr>
          <a:xfrm flipH="false" flipV="false" rot="0">
            <a:off x="15150061" y="8376032"/>
            <a:ext cx="2994175" cy="1764537"/>
          </a:xfrm>
          <a:custGeom>
            <a:avLst/>
            <a:gdLst/>
            <a:ahLst/>
            <a:cxnLst/>
            <a:rect r="r" b="b" t="t" l="l"/>
            <a:pathLst>
              <a:path h="1764537" w="2994175">
                <a:moveTo>
                  <a:pt x="0" y="0"/>
                </a:moveTo>
                <a:lnTo>
                  <a:pt x="2994175" y="0"/>
                </a:lnTo>
                <a:lnTo>
                  <a:pt x="2994175" y="1764536"/>
                </a:lnTo>
                <a:lnTo>
                  <a:pt x="0" y="1764536"/>
                </a:lnTo>
                <a:lnTo>
                  <a:pt x="0" y="0"/>
                </a:lnTo>
                <a:close/>
              </a:path>
            </a:pathLst>
          </a:custGeom>
          <a:blipFill>
            <a:blip r:embed="rId2"/>
            <a:stretch>
              <a:fillRect l="-16444" t="-68364" r="-20598" b="-64178"/>
            </a:stretch>
          </a:blipFill>
        </p:spPr>
      </p:sp>
      <p:sp>
        <p:nvSpPr>
          <p:cNvPr name="Freeform 8" id="8"/>
          <p:cNvSpPr/>
          <p:nvPr/>
        </p:nvSpPr>
        <p:spPr>
          <a:xfrm flipH="false" flipV="false" rot="0">
            <a:off x="12528768" y="2857657"/>
            <a:ext cx="5242586" cy="5242586"/>
          </a:xfrm>
          <a:custGeom>
            <a:avLst/>
            <a:gdLst/>
            <a:ahLst/>
            <a:cxnLst/>
            <a:rect r="r" b="b" t="t" l="l"/>
            <a:pathLst>
              <a:path h="5242586" w="5242586">
                <a:moveTo>
                  <a:pt x="0" y="0"/>
                </a:moveTo>
                <a:lnTo>
                  <a:pt x="5242586" y="0"/>
                </a:lnTo>
                <a:lnTo>
                  <a:pt x="5242586" y="5242586"/>
                </a:lnTo>
                <a:lnTo>
                  <a:pt x="0" y="5242586"/>
                </a:lnTo>
                <a:lnTo>
                  <a:pt x="0" y="0"/>
                </a:lnTo>
                <a:close/>
              </a:path>
            </a:pathLst>
          </a:custGeom>
          <a:blipFill>
            <a:blip r:embed="rId3"/>
            <a:stretch>
              <a:fillRect l="0" t="0" r="0" b="0"/>
            </a:stretch>
          </a:blipFill>
        </p:spPr>
      </p:sp>
      <p:sp>
        <p:nvSpPr>
          <p:cNvPr name="TextBox 9" id="9"/>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INTRODUCTION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16407" y="2200595"/>
            <a:ext cx="16242893" cy="5973439"/>
          </a:xfrm>
          <a:prstGeom prst="rect">
            <a:avLst/>
          </a:prstGeom>
        </p:spPr>
        <p:txBody>
          <a:bodyPr anchor="t" rtlCol="false" tIns="0" lIns="0" bIns="0" rIns="0">
            <a:spAutoFit/>
          </a:bodyPr>
          <a:lstStyle/>
          <a:p>
            <a:pPr algn="l" marL="464284" indent="-232142" lvl="1">
              <a:lnSpc>
                <a:spcPts val="2795"/>
              </a:lnSpc>
              <a:buFont typeface="Arial"/>
              <a:buChar char="•"/>
            </a:pPr>
            <a:r>
              <a:rPr lang="en-US" b="true" sz="2150" spc="10">
                <a:solidFill>
                  <a:srgbClr val="2B2C30"/>
                </a:solidFill>
                <a:latin typeface="Playfair Display Bold"/>
                <a:ea typeface="Playfair Display Bold"/>
                <a:cs typeface="Playfair Display Bold"/>
                <a:sym typeface="Playfair Display Bold"/>
              </a:rPr>
              <a:t>Systematic &amp; Unified Comparative Framework:</a:t>
            </a:r>
            <a:r>
              <a:rPr lang="en-US" sz="2150" spc="10">
                <a:solidFill>
                  <a:srgbClr val="2B2C30"/>
                </a:solidFill>
                <a:latin typeface="Playfair Display"/>
                <a:ea typeface="Playfair Display"/>
                <a:cs typeface="Playfair Display"/>
                <a:sym typeface="Playfair Display"/>
              </a:rPr>
              <a:t> Unlike many studies that evaluate a single model or a narrow set, this project's core novelty lies in its structured, </a:t>
            </a:r>
            <a:r>
              <a:rPr lang="en-US" b="true" sz="2150" spc="10">
                <a:solidFill>
                  <a:srgbClr val="2B2C30"/>
                </a:solidFill>
                <a:latin typeface="Playfair Display Bold"/>
                <a:ea typeface="Playfair Display Bold"/>
                <a:cs typeface="Playfair Display Bold"/>
                <a:sym typeface="Playfair Display Bold"/>
              </a:rPr>
              <a:t>head to head comparison</a:t>
            </a:r>
            <a:r>
              <a:rPr lang="en-US" sz="2150" spc="10">
                <a:solidFill>
                  <a:srgbClr val="2B2C30"/>
                </a:solidFill>
                <a:latin typeface="Playfair Display"/>
                <a:ea typeface="Playfair Display"/>
                <a:cs typeface="Playfair Display"/>
                <a:sym typeface="Playfair Display"/>
              </a:rPr>
              <a:t> of four distinct deep learning paradigms (Custom CNN, Multiple Transfer Learning models, a Hybrid Attention model, and an Ensemble) </a:t>
            </a:r>
            <a:r>
              <a:rPr lang="en-US" b="true" sz="2150" spc="10">
                <a:solidFill>
                  <a:srgbClr val="2B2C30"/>
                </a:solidFill>
                <a:latin typeface="Playfair Display Bold"/>
                <a:ea typeface="Playfair Display Bold"/>
                <a:cs typeface="Playfair Display Bold"/>
                <a:sym typeface="Playfair Display Bold"/>
              </a:rPr>
              <a:t>under identical conditions</a:t>
            </a:r>
            <a:r>
              <a:rPr lang="en-US" sz="2150" spc="10">
                <a:solidFill>
                  <a:srgbClr val="2B2C30"/>
                </a:solidFill>
                <a:latin typeface="Playfair Display"/>
                <a:ea typeface="Playfair Display"/>
                <a:cs typeface="Playfair Display"/>
                <a:sym typeface="Playfair Display"/>
              </a:rPr>
              <a:t> (same dataset, split, preprocessing, and metrics). This provides clear, actionable insights into which architectural strategy is best suited for this specific task.</a:t>
            </a:r>
          </a:p>
          <a:p>
            <a:pPr algn="l" marL="464284" indent="-232142" lvl="1">
              <a:lnSpc>
                <a:spcPts val="2795"/>
              </a:lnSpc>
              <a:buFont typeface="Arial"/>
              <a:buChar char="•"/>
            </a:pPr>
            <a:r>
              <a:rPr lang="en-US" b="true" sz="2150" spc="10">
                <a:solidFill>
                  <a:srgbClr val="2B2C30"/>
                </a:solidFill>
                <a:latin typeface="Playfair Display Bold"/>
                <a:ea typeface="Playfair Display Bold"/>
                <a:cs typeface="Playfair Display Bold"/>
                <a:sym typeface="Playfair Display Bold"/>
              </a:rPr>
              <a:t>Integration of an Attention Augmented Hybrid Model:</a:t>
            </a:r>
            <a:r>
              <a:rPr lang="en-US" sz="2150" spc="10">
                <a:solidFill>
                  <a:srgbClr val="2B2C30"/>
                </a:solidFill>
                <a:latin typeface="Playfair Display"/>
                <a:ea typeface="Playfair Display"/>
                <a:cs typeface="Playfair Display"/>
                <a:sym typeface="Playfair Display"/>
              </a:rPr>
              <a:t> While attention mechanisms are known, their integration into a </a:t>
            </a:r>
            <a:r>
              <a:rPr lang="en-US" b="true" sz="2150" spc="10">
                <a:solidFill>
                  <a:srgbClr val="2B2C30"/>
                </a:solidFill>
                <a:latin typeface="Playfair Display Bold"/>
                <a:ea typeface="Playfair Display Bold"/>
                <a:cs typeface="Playfair Display Bold"/>
                <a:sym typeface="Playfair Display Bold"/>
              </a:rPr>
              <a:t>comparative framework</a:t>
            </a:r>
            <a:r>
              <a:rPr lang="en-US" sz="2150" spc="10">
                <a:solidFill>
                  <a:srgbClr val="2B2C30"/>
                </a:solidFill>
                <a:latin typeface="Playfair Display"/>
                <a:ea typeface="Playfair Display"/>
                <a:cs typeface="Playfair Display"/>
                <a:sym typeface="Playfair Display"/>
              </a:rPr>
              <a:t> for this specific multi class medical problem is a significant contribution. This model aims to improve diagnostic accuracy and interpretability by forcing the network to focus on clinically relevant lung regions, a step beyond standard classification networks.</a:t>
            </a:r>
          </a:p>
          <a:p>
            <a:pPr algn="l" marL="464284" indent="-232142" lvl="1">
              <a:lnSpc>
                <a:spcPts val="2795"/>
              </a:lnSpc>
              <a:buFont typeface="Arial"/>
              <a:buChar char="•"/>
            </a:pPr>
            <a:r>
              <a:rPr lang="en-US" b="true" sz="2150" spc="10">
                <a:solidFill>
                  <a:srgbClr val="2B2C30"/>
                </a:solidFill>
                <a:latin typeface="Playfair Display Bold"/>
                <a:ea typeface="Playfair Display Bold"/>
                <a:cs typeface="Playfair Display Bold"/>
                <a:sym typeface="Playfair Display Bold"/>
              </a:rPr>
              <a:t>Strategic Ensemble of Heterogeneous Models:</a:t>
            </a:r>
            <a:r>
              <a:rPr lang="en-US" sz="2150" spc="10">
                <a:solidFill>
                  <a:srgbClr val="2B2C30"/>
                </a:solidFill>
                <a:latin typeface="Playfair Display"/>
                <a:ea typeface="Playfair Display"/>
                <a:cs typeface="Playfair Display"/>
                <a:sym typeface="Playfair Display"/>
              </a:rPr>
              <a:t> The ensemble approach is novel in its design to combine the strengths of fundamentally different architectures (e.g., the efficiency of MobileNet with the high accuracy of EfficientNet). This is more advanced than simply ensembling similar models and is aimed at creating a more robust and generalizable "meta model."</a:t>
            </a:r>
          </a:p>
          <a:p>
            <a:pPr algn="l" marL="464284" indent="-232142" lvl="1">
              <a:lnSpc>
                <a:spcPts val="2795"/>
              </a:lnSpc>
              <a:buFont typeface="Arial"/>
              <a:buChar char="•"/>
            </a:pPr>
            <a:r>
              <a:rPr lang="en-US" b="true" sz="2150" spc="10">
                <a:solidFill>
                  <a:srgbClr val="2B2C30"/>
                </a:solidFill>
                <a:latin typeface="Playfair Display Bold"/>
                <a:ea typeface="Playfair Display Bold"/>
                <a:cs typeface="Playfair Display Bold"/>
                <a:sym typeface="Playfair Display Bold"/>
              </a:rPr>
              <a:t>Comprehensive Multi Class Focus:</a:t>
            </a:r>
            <a:r>
              <a:rPr lang="en-US" sz="2150" spc="10">
                <a:solidFill>
                  <a:srgbClr val="2B2C30"/>
                </a:solidFill>
                <a:latin typeface="Playfair Display"/>
                <a:ea typeface="Playfair Display"/>
                <a:cs typeface="Playfair Display"/>
                <a:sym typeface="Playfair Display"/>
              </a:rPr>
              <a:t> The project addresses a critical gap by deliberately including </a:t>
            </a:r>
            <a:r>
              <a:rPr lang="en-US" b="true" sz="2150" spc="10">
                <a:solidFill>
                  <a:srgbClr val="2B2C30"/>
                </a:solidFill>
                <a:latin typeface="Playfair Display Bold"/>
                <a:ea typeface="Playfair Display Bold"/>
                <a:cs typeface="Playfair Display Bold"/>
                <a:sym typeface="Playfair Display Bold"/>
              </a:rPr>
              <a:t>Tuberculosis (TB)</a:t>
            </a:r>
            <a:r>
              <a:rPr lang="en-US" sz="2150" spc="10">
                <a:solidFill>
                  <a:srgbClr val="2B2C30"/>
                </a:solidFill>
                <a:latin typeface="Playfair Display"/>
                <a:ea typeface="Playfair Display"/>
                <a:cs typeface="Playfair Display"/>
                <a:sym typeface="Playfair Display"/>
              </a:rPr>
              <a:t> alongside COVID 19, Pneumonia, and Normal cases. Many contemporary studies focus only on COVID 19 and pneumonia, neglecting TB, which remains a major global health burden. This makes the project's scope more clinically comprehensive and globally relevant.</a:t>
            </a:r>
          </a:p>
          <a:p>
            <a:pPr algn="l">
              <a:lnSpc>
                <a:spcPts val="2795"/>
              </a:lnSpc>
            </a:pPr>
          </a:p>
        </p:txBody>
      </p:sp>
      <p:sp>
        <p:nvSpPr>
          <p:cNvPr name="AutoShape 3" id="3"/>
          <p:cNvSpPr/>
          <p:nvPr/>
        </p:nvSpPr>
        <p:spPr>
          <a:xfrm flipV="true">
            <a:off x="1028695" y="1760761"/>
            <a:ext cx="16230594" cy="38509"/>
          </a:xfrm>
          <a:prstGeom prst="line">
            <a:avLst/>
          </a:prstGeom>
          <a:ln cap="flat" w="9525">
            <a:solidFill>
              <a:srgbClr val="2B2C30"/>
            </a:solidFill>
            <a:prstDash val="solid"/>
            <a:headEnd type="none" len="sm" w="sm"/>
            <a:tailEnd type="none" len="sm" w="sm"/>
          </a:ln>
        </p:spPr>
      </p:sp>
      <p:sp>
        <p:nvSpPr>
          <p:cNvPr name="Freeform 4" id="4"/>
          <p:cNvSpPr/>
          <p:nvPr/>
        </p:nvSpPr>
        <p:spPr>
          <a:xfrm flipH="false" flipV="false" rot="0">
            <a:off x="15150061" y="8376032"/>
            <a:ext cx="2994175" cy="1764537"/>
          </a:xfrm>
          <a:custGeom>
            <a:avLst/>
            <a:gdLst/>
            <a:ahLst/>
            <a:cxnLst/>
            <a:rect r="r" b="b" t="t" l="l"/>
            <a:pathLst>
              <a:path h="1764537" w="2994175">
                <a:moveTo>
                  <a:pt x="0" y="0"/>
                </a:moveTo>
                <a:lnTo>
                  <a:pt x="2994175" y="0"/>
                </a:lnTo>
                <a:lnTo>
                  <a:pt x="2994175" y="1764536"/>
                </a:lnTo>
                <a:lnTo>
                  <a:pt x="0" y="1764536"/>
                </a:lnTo>
                <a:lnTo>
                  <a:pt x="0" y="0"/>
                </a:lnTo>
                <a:close/>
              </a:path>
            </a:pathLst>
          </a:custGeom>
          <a:blipFill>
            <a:blip r:embed="rId2"/>
            <a:stretch>
              <a:fillRect l="-16444" t="-68364" r="-20598" b="-64178"/>
            </a:stretch>
          </a:blipFill>
        </p:spPr>
      </p:sp>
      <p:sp>
        <p:nvSpPr>
          <p:cNvPr name="TextBox 5" id="5"/>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NOVELTY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REAL TIME USAGE &amp; APPLICATIONS</a:t>
            </a:r>
          </a:p>
        </p:txBody>
      </p:sp>
      <p:sp>
        <p:nvSpPr>
          <p:cNvPr name="AutoShape 3" id="3"/>
          <p:cNvSpPr/>
          <p:nvPr/>
        </p:nvSpPr>
        <p:spPr>
          <a:xfrm flipV="true">
            <a:off x="1028711" y="1677417"/>
            <a:ext cx="16230594" cy="38509"/>
          </a:xfrm>
          <a:prstGeom prst="line">
            <a:avLst/>
          </a:prstGeom>
          <a:ln cap="flat" w="9525">
            <a:solidFill>
              <a:srgbClr val="2B2C30"/>
            </a:solidFill>
            <a:prstDash val="solid"/>
            <a:headEnd type="none" len="sm" w="sm"/>
            <a:tailEnd type="none" len="sm" w="sm"/>
          </a:ln>
        </p:spPr>
      </p:sp>
      <p:sp>
        <p:nvSpPr>
          <p:cNvPr name="TextBox 4" id="4"/>
          <p:cNvSpPr txBox="true"/>
          <p:nvPr/>
        </p:nvSpPr>
        <p:spPr>
          <a:xfrm rot="0">
            <a:off x="1006871" y="2291134"/>
            <a:ext cx="16230594" cy="4328159"/>
          </a:xfrm>
          <a:prstGeom prst="rect">
            <a:avLst/>
          </a:prstGeom>
        </p:spPr>
        <p:txBody>
          <a:bodyPr anchor="t" rtlCol="false" tIns="0" lIns="0" bIns="0" rIns="0">
            <a:spAutoFit/>
          </a:bodyPr>
          <a:lstStyle/>
          <a:p>
            <a:pPr algn="l" marL="410214" indent="-205107" lvl="1">
              <a:lnSpc>
                <a:spcPts val="2850"/>
              </a:lnSpc>
              <a:buFont typeface="Arial"/>
              <a:buChar char="•"/>
            </a:pPr>
            <a:r>
              <a:rPr lang="en-US" b="true" sz="1900">
                <a:solidFill>
                  <a:srgbClr val="2B2C30"/>
                </a:solidFill>
                <a:latin typeface="Public Sans Bold"/>
                <a:ea typeface="Public Sans Bold"/>
                <a:cs typeface="Public Sans Bold"/>
                <a:sym typeface="Public Sans Bold"/>
              </a:rPr>
              <a:t>Primary Care &amp; Triage Screening Tool:</a:t>
            </a:r>
            <a:r>
              <a:rPr lang="en-US" sz="1900">
                <a:solidFill>
                  <a:srgbClr val="2B2C30"/>
                </a:solidFill>
                <a:latin typeface="Public Sans"/>
                <a:ea typeface="Public Sans"/>
                <a:cs typeface="Public Sans"/>
                <a:sym typeface="Public Sans"/>
              </a:rPr>
              <a:t> The system could be deployed as a </a:t>
            </a:r>
            <a:r>
              <a:rPr lang="en-US" b="true" sz="1900">
                <a:solidFill>
                  <a:srgbClr val="2B2C30"/>
                </a:solidFill>
                <a:latin typeface="Public Sans Medium"/>
                <a:ea typeface="Public Sans Medium"/>
                <a:cs typeface="Public Sans Medium"/>
                <a:sym typeface="Public Sans Medium"/>
              </a:rPr>
              <a:t>support tool in clinics, emergency departments, or rural health centers</a:t>
            </a:r>
            <a:r>
              <a:rPr lang="en-US" sz="1900">
                <a:solidFill>
                  <a:srgbClr val="2B2C30"/>
                </a:solidFill>
                <a:latin typeface="Public Sans"/>
                <a:ea typeface="Public Sans"/>
                <a:cs typeface="Public Sans"/>
                <a:sym typeface="Public Sans"/>
              </a:rPr>
              <a:t>. A healthcare worker could upload a chest X ray, and the model would provide a rapid, preliminary classification, helping to prioritize urgent cases (e.g., suspected COVID 19 or severe pneumonia) for immediate radiologist review.</a:t>
            </a:r>
          </a:p>
          <a:p>
            <a:pPr algn="l" marL="410214" indent="-205107" lvl="1">
              <a:lnSpc>
                <a:spcPts val="2850"/>
              </a:lnSpc>
              <a:buFont typeface="Arial"/>
              <a:buChar char="•"/>
            </a:pPr>
            <a:r>
              <a:rPr lang="en-US" b="true" sz="1900">
                <a:solidFill>
                  <a:srgbClr val="2B2C30"/>
                </a:solidFill>
                <a:latin typeface="Public Sans Bold"/>
                <a:ea typeface="Public Sans Bold"/>
                <a:cs typeface="Public Sans Bold"/>
                <a:sym typeface="Public Sans Bold"/>
              </a:rPr>
              <a:t>Telemedicine and Mobile Health (mHealth):</a:t>
            </a:r>
            <a:r>
              <a:rPr lang="en-US" sz="1900">
                <a:solidFill>
                  <a:srgbClr val="2B2C30"/>
                </a:solidFill>
                <a:latin typeface="Public Sans"/>
                <a:ea typeface="Public Sans"/>
                <a:cs typeface="Public Sans"/>
                <a:sym typeface="Public Sans"/>
              </a:rPr>
              <a:t> The lightweight models (like MobileNet) are engineered for compatibility with </a:t>
            </a:r>
            <a:r>
              <a:rPr lang="en-US" b="true" sz="1900">
                <a:solidFill>
                  <a:srgbClr val="2B2C30"/>
                </a:solidFill>
                <a:latin typeface="Public Sans Medium"/>
                <a:ea typeface="Public Sans Medium"/>
                <a:cs typeface="Public Sans Medium"/>
                <a:sym typeface="Public Sans Medium"/>
              </a:rPr>
              <a:t>mobile devices and edge computing</a:t>
            </a:r>
            <a:r>
              <a:rPr lang="en-US" sz="1900">
                <a:solidFill>
                  <a:srgbClr val="2B2C30"/>
                </a:solidFill>
                <a:latin typeface="Public Sans"/>
                <a:ea typeface="Public Sans"/>
                <a:cs typeface="Public Sans"/>
                <a:sym typeface="Public Sans"/>
              </a:rPr>
              <a:t>. This enables usage in remote or underserved areas via a smartphone or tablet app, allowing community health workers to perform initial screenings and share results with specialists in distant hospitals.</a:t>
            </a:r>
          </a:p>
          <a:p>
            <a:pPr algn="l" marL="410214" indent="-205107" lvl="1">
              <a:lnSpc>
                <a:spcPts val="2850"/>
              </a:lnSpc>
              <a:buFont typeface="Arial"/>
              <a:buChar char="•"/>
            </a:pPr>
            <a:r>
              <a:rPr lang="en-US" b="true" sz="1900">
                <a:solidFill>
                  <a:srgbClr val="2B2C30"/>
                </a:solidFill>
                <a:latin typeface="Public Sans Bold"/>
                <a:ea typeface="Public Sans Bold"/>
                <a:cs typeface="Public Sans Bold"/>
                <a:sym typeface="Public Sans Bold"/>
              </a:rPr>
              <a:t>Radiology Workflow Augmentation:</a:t>
            </a:r>
            <a:r>
              <a:rPr lang="en-US" sz="1900">
                <a:solidFill>
                  <a:srgbClr val="2B2C30"/>
                </a:solidFill>
                <a:latin typeface="Public Sans"/>
                <a:ea typeface="Public Sans"/>
                <a:cs typeface="Public Sans"/>
                <a:sym typeface="Public Sans"/>
              </a:rPr>
              <a:t> Integrated into a hospital's Picture Archiving and Communication System (PACS), the model could act as a </a:t>
            </a:r>
            <a:r>
              <a:rPr lang="en-US" b="true" sz="1900">
                <a:solidFill>
                  <a:srgbClr val="2B2C30"/>
                </a:solidFill>
                <a:latin typeface="Public Sans Medium"/>
                <a:ea typeface="Public Sans Medium"/>
                <a:cs typeface="Public Sans Medium"/>
                <a:sym typeface="Public Sans Medium"/>
              </a:rPr>
              <a:t>pre reporting assistant</a:t>
            </a:r>
            <a:r>
              <a:rPr lang="en-US" sz="1900">
                <a:solidFill>
                  <a:srgbClr val="2B2C30"/>
                </a:solidFill>
                <a:latin typeface="Public Sans"/>
                <a:ea typeface="Public Sans"/>
                <a:cs typeface="Public Sans"/>
                <a:sym typeface="Public Sans"/>
              </a:rPr>
              <a:t>. It would automatically analyze incoming X rays, flagging abnormal cases and suggesting potential diagnoses, thereby increasing radiologists' efficiency and reducing reporting turnaround times.</a:t>
            </a:r>
          </a:p>
          <a:p>
            <a:pPr algn="l" marL="410214" indent="-205107" lvl="1">
              <a:lnSpc>
                <a:spcPts val="2850"/>
              </a:lnSpc>
              <a:buFont typeface="Arial"/>
              <a:buChar char="•"/>
            </a:pPr>
            <a:r>
              <a:rPr lang="en-US" b="true" sz="1900">
                <a:solidFill>
                  <a:srgbClr val="2B2C30"/>
                </a:solidFill>
                <a:latin typeface="Public Sans Bold"/>
                <a:ea typeface="Public Sans Bold"/>
                <a:cs typeface="Public Sans Bold"/>
                <a:sym typeface="Public Sans Bold"/>
              </a:rPr>
              <a:t>Mass Screening in Public Health Crises:</a:t>
            </a:r>
            <a:r>
              <a:rPr lang="en-US" sz="1900">
                <a:solidFill>
                  <a:srgbClr val="2B2C30"/>
                </a:solidFill>
                <a:latin typeface="Public Sans"/>
                <a:ea typeface="Public Sans"/>
                <a:cs typeface="Public Sans"/>
                <a:sym typeface="Public Sans"/>
              </a:rPr>
              <a:t> During outbreaks (e.g., a pandemic or TB surge), the system could be used for </a:t>
            </a:r>
            <a:r>
              <a:rPr lang="en-US" b="true" sz="1900">
                <a:solidFill>
                  <a:srgbClr val="2B2C30"/>
                </a:solidFill>
                <a:latin typeface="Public Sans Medium"/>
                <a:ea typeface="Public Sans Medium"/>
                <a:cs typeface="Public Sans Medium"/>
                <a:sym typeface="Public Sans Medium"/>
              </a:rPr>
              <a:t>high throughput screening</a:t>
            </a:r>
            <a:r>
              <a:rPr lang="en-US" sz="1900">
                <a:solidFill>
                  <a:srgbClr val="2B2C30"/>
                </a:solidFill>
                <a:latin typeface="Public Sans"/>
                <a:ea typeface="Public Sans"/>
                <a:cs typeface="Public Sans"/>
                <a:sym typeface="Public Sans"/>
              </a:rPr>
              <a:t> of chest X rays in isolation camps, airports, or community centers, aiding in the rapid identification and isolation of potential cases.</a:t>
            </a:r>
          </a:p>
          <a:p>
            <a:pPr algn="l">
              <a:lnSpc>
                <a:spcPts val="2850"/>
              </a:lnSpc>
            </a:pPr>
          </a:p>
        </p:txBody>
      </p:sp>
      <p:sp>
        <p:nvSpPr>
          <p:cNvPr name="Freeform 5" id="5"/>
          <p:cNvSpPr/>
          <p:nvPr/>
        </p:nvSpPr>
        <p:spPr>
          <a:xfrm flipH="false" flipV="false" rot="0">
            <a:off x="15182008" y="8730122"/>
            <a:ext cx="2994175" cy="1556878"/>
          </a:xfrm>
          <a:custGeom>
            <a:avLst/>
            <a:gdLst/>
            <a:ahLst/>
            <a:cxnLst/>
            <a:rect r="r" b="b" t="t" l="l"/>
            <a:pathLst>
              <a:path h="1556878" w="2994175">
                <a:moveTo>
                  <a:pt x="0" y="0"/>
                </a:moveTo>
                <a:lnTo>
                  <a:pt x="2994175" y="0"/>
                </a:lnTo>
                <a:lnTo>
                  <a:pt x="2994175" y="1556878"/>
                </a:lnTo>
                <a:lnTo>
                  <a:pt x="0" y="1556878"/>
                </a:lnTo>
                <a:lnTo>
                  <a:pt x="0" y="0"/>
                </a:lnTo>
                <a:close/>
              </a:path>
            </a:pathLst>
          </a:custGeom>
          <a:blipFill>
            <a:blip r:embed="rId2"/>
            <a:stretch>
              <a:fillRect l="-16444" t="-90820" r="-20598" b="-72738"/>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ARCHITECTURE DIAGRAM</a:t>
            </a:r>
          </a:p>
        </p:txBody>
      </p:sp>
      <p:sp>
        <p:nvSpPr>
          <p:cNvPr name="AutoShape 3" id="3"/>
          <p:cNvSpPr/>
          <p:nvPr/>
        </p:nvSpPr>
        <p:spPr>
          <a:xfrm flipV="true">
            <a:off x="1028711" y="1598836"/>
            <a:ext cx="16230594" cy="38509"/>
          </a:xfrm>
          <a:prstGeom prst="line">
            <a:avLst/>
          </a:prstGeom>
          <a:ln cap="flat" w="9525">
            <a:solidFill>
              <a:srgbClr val="2B2C30"/>
            </a:solidFill>
            <a:prstDash val="solid"/>
            <a:headEnd type="none" len="sm" w="sm"/>
            <a:tailEnd type="none" len="sm" w="sm"/>
          </a:ln>
        </p:spPr>
      </p:sp>
      <p:sp>
        <p:nvSpPr>
          <p:cNvPr name="Freeform 4" id="4"/>
          <p:cNvSpPr/>
          <p:nvPr/>
        </p:nvSpPr>
        <p:spPr>
          <a:xfrm flipH="false" flipV="false" rot="0">
            <a:off x="15182008" y="8730122"/>
            <a:ext cx="2994175" cy="1556878"/>
          </a:xfrm>
          <a:custGeom>
            <a:avLst/>
            <a:gdLst/>
            <a:ahLst/>
            <a:cxnLst/>
            <a:rect r="r" b="b" t="t" l="l"/>
            <a:pathLst>
              <a:path h="1556878" w="2994175">
                <a:moveTo>
                  <a:pt x="0" y="0"/>
                </a:moveTo>
                <a:lnTo>
                  <a:pt x="2994175" y="0"/>
                </a:lnTo>
                <a:lnTo>
                  <a:pt x="2994175" y="1556878"/>
                </a:lnTo>
                <a:lnTo>
                  <a:pt x="0" y="1556878"/>
                </a:lnTo>
                <a:lnTo>
                  <a:pt x="0" y="0"/>
                </a:lnTo>
                <a:close/>
              </a:path>
            </a:pathLst>
          </a:custGeom>
          <a:blipFill>
            <a:blip r:embed="rId2"/>
            <a:stretch>
              <a:fillRect l="-16444" t="-90820" r="-20598" b="-72738"/>
            </a:stretch>
          </a:blipFill>
        </p:spPr>
      </p:sp>
      <p:sp>
        <p:nvSpPr>
          <p:cNvPr name="TextBox 5" id="5"/>
          <p:cNvSpPr txBox="true"/>
          <p:nvPr/>
        </p:nvSpPr>
        <p:spPr>
          <a:xfrm rot="0">
            <a:off x="8482547" y="3295599"/>
            <a:ext cx="8978557" cy="3877304"/>
          </a:xfrm>
          <a:prstGeom prst="rect">
            <a:avLst/>
          </a:prstGeom>
        </p:spPr>
        <p:txBody>
          <a:bodyPr anchor="t" rtlCol="false" tIns="0" lIns="0" bIns="0" rIns="0">
            <a:spAutoFit/>
          </a:bodyPr>
          <a:lstStyle/>
          <a:p>
            <a:pPr algn="l">
              <a:lnSpc>
                <a:spcPts val="3835"/>
              </a:lnSpc>
            </a:pPr>
            <a:r>
              <a:rPr lang="en-US" sz="2950" spc="14">
                <a:solidFill>
                  <a:srgbClr val="2B2C30"/>
                </a:solidFill>
                <a:latin typeface="Playfair Display"/>
                <a:ea typeface="Playfair Display"/>
                <a:cs typeface="Playfair Display"/>
                <a:sym typeface="Playfair Display"/>
              </a:rPr>
              <a:t>This framework outli</a:t>
            </a:r>
            <a:r>
              <a:rPr lang="en-US" sz="2950" spc="14">
                <a:solidFill>
                  <a:srgbClr val="2B2C30"/>
                </a:solidFill>
                <a:latin typeface="Playfair Display"/>
                <a:ea typeface="Playfair Display"/>
                <a:cs typeface="Playfair Display"/>
                <a:sym typeface="Playfair Display"/>
              </a:rPr>
              <a:t>ne</a:t>
            </a:r>
            <a:r>
              <a:rPr lang="en-US" sz="2950" spc="14">
                <a:solidFill>
                  <a:srgbClr val="2B2C30"/>
                </a:solidFill>
                <a:latin typeface="Playfair Display"/>
                <a:ea typeface="Playfair Display"/>
                <a:cs typeface="Playfair Display"/>
                <a:sym typeface="Playfair Display"/>
              </a:rPr>
              <a:t>s a systematic pipeline for </a:t>
            </a:r>
            <a:r>
              <a:rPr lang="en-US" sz="2950" spc="14">
                <a:solidFill>
                  <a:srgbClr val="2B2C30"/>
                </a:solidFill>
                <a:latin typeface="Playfair Display"/>
                <a:ea typeface="Playfair Display"/>
                <a:cs typeface="Playfair Display"/>
                <a:sym typeface="Playfair Display"/>
              </a:rPr>
              <a:t>d</a:t>
            </a:r>
            <a:r>
              <a:rPr lang="en-US" sz="2950" spc="14">
                <a:solidFill>
                  <a:srgbClr val="2B2C30"/>
                </a:solidFill>
                <a:latin typeface="Playfair Display"/>
                <a:ea typeface="Playfair Display"/>
                <a:cs typeface="Playfair Display"/>
                <a:sym typeface="Playfair Display"/>
              </a:rPr>
              <a:t>ev</a:t>
            </a:r>
            <a:r>
              <a:rPr lang="en-US" sz="2950" spc="14">
                <a:solidFill>
                  <a:srgbClr val="2B2C30"/>
                </a:solidFill>
                <a:latin typeface="Playfair Display"/>
                <a:ea typeface="Playfair Display"/>
                <a:cs typeface="Playfair Display"/>
                <a:sym typeface="Playfair Display"/>
              </a:rPr>
              <a:t>elo</a:t>
            </a:r>
            <a:r>
              <a:rPr lang="en-US" sz="2950" spc="14">
                <a:solidFill>
                  <a:srgbClr val="2B2C30"/>
                </a:solidFill>
                <a:latin typeface="Playfair Display"/>
                <a:ea typeface="Playfair Display"/>
                <a:cs typeface="Playfair Display"/>
                <a:sym typeface="Playfair Display"/>
              </a:rPr>
              <a:t>p</a:t>
            </a:r>
            <a:r>
              <a:rPr lang="en-US" sz="2950" spc="14">
                <a:solidFill>
                  <a:srgbClr val="2B2C30"/>
                </a:solidFill>
                <a:latin typeface="Playfair Display"/>
                <a:ea typeface="Playfair Display"/>
                <a:cs typeface="Playfair Display"/>
                <a:sym typeface="Playfair Display"/>
              </a:rPr>
              <a:t>in</a:t>
            </a:r>
            <a:r>
              <a:rPr lang="en-US" sz="2950" spc="14">
                <a:solidFill>
                  <a:srgbClr val="2B2C30"/>
                </a:solidFill>
                <a:latin typeface="Playfair Display"/>
                <a:ea typeface="Playfair Display"/>
                <a:cs typeface="Playfair Display"/>
                <a:sym typeface="Playfair Display"/>
              </a:rPr>
              <a:t>g</a:t>
            </a:r>
            <a:r>
              <a:rPr lang="en-US" sz="2950" spc="14">
                <a:solidFill>
                  <a:srgbClr val="2B2C30"/>
                </a:solidFill>
                <a:latin typeface="Playfair Display"/>
                <a:ea typeface="Playfair Display"/>
                <a:cs typeface="Playfair Display"/>
                <a:sym typeface="Playfair Display"/>
              </a:rPr>
              <a:t> and</a:t>
            </a:r>
            <a:r>
              <a:rPr lang="en-US" sz="2950" spc="14">
                <a:solidFill>
                  <a:srgbClr val="2B2C30"/>
                </a:solidFill>
                <a:latin typeface="Playfair Display"/>
                <a:ea typeface="Playfair Display"/>
                <a:cs typeface="Playfair Display"/>
                <a:sym typeface="Playfair Display"/>
              </a:rPr>
              <a:t> comparing multiple deep learning models to classify chest X ray images into four disease categories: COVID 19, Normal, Pneumonia, and Tuberculosis. The proces</a:t>
            </a:r>
            <a:r>
              <a:rPr lang="en-US" sz="2950" spc="14">
                <a:solidFill>
                  <a:srgbClr val="2B2C30"/>
                </a:solidFill>
                <a:latin typeface="Playfair Display"/>
                <a:ea typeface="Playfair Display"/>
                <a:cs typeface="Playfair Display"/>
                <a:sym typeface="Playfair Display"/>
              </a:rPr>
              <a:t>s fl</a:t>
            </a:r>
            <a:r>
              <a:rPr lang="en-US" sz="2950" spc="14">
                <a:solidFill>
                  <a:srgbClr val="2B2C30"/>
                </a:solidFill>
                <a:latin typeface="Playfair Display"/>
                <a:ea typeface="Playfair Display"/>
                <a:cs typeface="Playfair Display"/>
                <a:sym typeface="Playfair Display"/>
              </a:rPr>
              <a:t>o</a:t>
            </a:r>
            <a:r>
              <a:rPr lang="en-US" sz="2950" spc="14">
                <a:solidFill>
                  <a:srgbClr val="2B2C30"/>
                </a:solidFill>
                <a:latin typeface="Playfair Display"/>
                <a:ea typeface="Playfair Display"/>
                <a:cs typeface="Playfair Display"/>
                <a:sym typeface="Playfair Display"/>
              </a:rPr>
              <a:t>w</a:t>
            </a:r>
            <a:r>
              <a:rPr lang="en-US" sz="2950" spc="14">
                <a:solidFill>
                  <a:srgbClr val="2B2C30"/>
                </a:solidFill>
                <a:latin typeface="Playfair Display"/>
                <a:ea typeface="Playfair Display"/>
                <a:cs typeface="Playfair Display"/>
                <a:sym typeface="Playfair Display"/>
              </a:rPr>
              <a:t>s</a:t>
            </a:r>
            <a:r>
              <a:rPr lang="en-US" sz="2950" spc="14">
                <a:solidFill>
                  <a:srgbClr val="2B2C30"/>
                </a:solidFill>
                <a:latin typeface="Playfair Display"/>
                <a:ea typeface="Playfair Display"/>
                <a:cs typeface="Playfair Display"/>
                <a:sym typeface="Playfair Display"/>
              </a:rPr>
              <a:t> </a:t>
            </a:r>
            <a:r>
              <a:rPr lang="en-US" sz="2950" spc="14">
                <a:solidFill>
                  <a:srgbClr val="2B2C30"/>
                </a:solidFill>
                <a:latin typeface="Playfair Display"/>
                <a:ea typeface="Playfair Display"/>
                <a:cs typeface="Playfair Display"/>
                <a:sym typeface="Playfair Display"/>
              </a:rPr>
              <a:t>f</a:t>
            </a:r>
            <a:r>
              <a:rPr lang="en-US" sz="2950" spc="14">
                <a:solidFill>
                  <a:srgbClr val="2B2C30"/>
                </a:solidFill>
                <a:latin typeface="Playfair Display"/>
                <a:ea typeface="Playfair Display"/>
                <a:cs typeface="Playfair Display"/>
                <a:sym typeface="Playfair Display"/>
              </a:rPr>
              <a:t>r</a:t>
            </a:r>
            <a:r>
              <a:rPr lang="en-US" sz="2950" spc="14">
                <a:solidFill>
                  <a:srgbClr val="2B2C30"/>
                </a:solidFill>
                <a:latin typeface="Playfair Display"/>
                <a:ea typeface="Playfair Display"/>
                <a:cs typeface="Playfair Display"/>
                <a:sym typeface="Playfair Display"/>
              </a:rPr>
              <a:t>om</a:t>
            </a:r>
            <a:r>
              <a:rPr lang="en-US" sz="2950" spc="14">
                <a:solidFill>
                  <a:srgbClr val="2B2C30"/>
                </a:solidFill>
                <a:latin typeface="Playfair Display"/>
                <a:ea typeface="Playfair Display"/>
                <a:cs typeface="Playfair Display"/>
                <a:sym typeface="Playfair Display"/>
              </a:rPr>
              <a:t> d</a:t>
            </a:r>
            <a:r>
              <a:rPr lang="en-US" sz="2950" spc="14">
                <a:solidFill>
                  <a:srgbClr val="2B2C30"/>
                </a:solidFill>
                <a:latin typeface="Playfair Display"/>
                <a:ea typeface="Playfair Display"/>
                <a:cs typeface="Playfair Display"/>
                <a:sym typeface="Playfair Display"/>
              </a:rPr>
              <a:t>a</a:t>
            </a:r>
            <a:r>
              <a:rPr lang="en-US" sz="2950" spc="14">
                <a:solidFill>
                  <a:srgbClr val="2B2C30"/>
                </a:solidFill>
                <a:latin typeface="Playfair Display"/>
                <a:ea typeface="Playfair Display"/>
                <a:cs typeface="Playfair Display"/>
                <a:sym typeface="Playfair Display"/>
              </a:rPr>
              <a:t>t</a:t>
            </a:r>
            <a:r>
              <a:rPr lang="en-US" sz="2950" spc="14">
                <a:solidFill>
                  <a:srgbClr val="2B2C30"/>
                </a:solidFill>
                <a:latin typeface="Playfair Display"/>
                <a:ea typeface="Playfair Display"/>
                <a:cs typeface="Playfair Display"/>
                <a:sym typeface="Playfair Display"/>
              </a:rPr>
              <a:t>a</a:t>
            </a:r>
            <a:r>
              <a:rPr lang="en-US" sz="2950" spc="14">
                <a:solidFill>
                  <a:srgbClr val="2B2C30"/>
                </a:solidFill>
                <a:latin typeface="Playfair Display"/>
                <a:ea typeface="Playfair Display"/>
                <a:cs typeface="Playfair Display"/>
                <a:sym typeface="Playfair Display"/>
              </a:rPr>
              <a:t> </a:t>
            </a:r>
            <a:r>
              <a:rPr lang="en-US" sz="2950" spc="14">
                <a:solidFill>
                  <a:srgbClr val="2B2C30"/>
                </a:solidFill>
                <a:latin typeface="Playfair Display"/>
                <a:ea typeface="Playfair Display"/>
                <a:cs typeface="Playfair Display"/>
                <a:sym typeface="Playfair Display"/>
              </a:rPr>
              <a:t>a</a:t>
            </a:r>
            <a:r>
              <a:rPr lang="en-US" sz="2950" spc="14">
                <a:solidFill>
                  <a:srgbClr val="2B2C30"/>
                </a:solidFill>
                <a:latin typeface="Playfair Display"/>
                <a:ea typeface="Playfair Display"/>
                <a:cs typeface="Playfair Display"/>
                <a:sym typeface="Playfair Display"/>
              </a:rPr>
              <a:t>c</a:t>
            </a:r>
            <a:r>
              <a:rPr lang="en-US" sz="2950" spc="14">
                <a:solidFill>
                  <a:srgbClr val="2B2C30"/>
                </a:solidFill>
                <a:latin typeface="Playfair Display"/>
                <a:ea typeface="Playfair Display"/>
                <a:cs typeface="Playfair Display"/>
                <a:sym typeface="Playfair Display"/>
              </a:rPr>
              <a:t>qu</a:t>
            </a:r>
            <a:r>
              <a:rPr lang="en-US" sz="2950" spc="14">
                <a:solidFill>
                  <a:srgbClr val="2B2C30"/>
                </a:solidFill>
                <a:latin typeface="Playfair Display"/>
                <a:ea typeface="Playfair Display"/>
                <a:cs typeface="Playfair Display"/>
                <a:sym typeface="Playfair Display"/>
              </a:rPr>
              <a:t>is</a:t>
            </a:r>
            <a:r>
              <a:rPr lang="en-US" sz="2950" spc="14">
                <a:solidFill>
                  <a:srgbClr val="2B2C30"/>
                </a:solidFill>
                <a:latin typeface="Playfair Display"/>
                <a:ea typeface="Playfair Display"/>
                <a:cs typeface="Playfair Display"/>
                <a:sym typeface="Playfair Display"/>
              </a:rPr>
              <a:t>i</a:t>
            </a:r>
            <a:r>
              <a:rPr lang="en-US" sz="2950" spc="14">
                <a:solidFill>
                  <a:srgbClr val="2B2C30"/>
                </a:solidFill>
                <a:latin typeface="Playfair Display"/>
                <a:ea typeface="Playfair Display"/>
                <a:cs typeface="Playfair Display"/>
                <a:sym typeface="Playfair Display"/>
              </a:rPr>
              <a:t>tion</a:t>
            </a:r>
            <a:r>
              <a:rPr lang="en-US" sz="2950" spc="14">
                <a:solidFill>
                  <a:srgbClr val="2B2C30"/>
                </a:solidFill>
                <a:latin typeface="Playfair Display"/>
                <a:ea typeface="Playfair Display"/>
                <a:cs typeface="Playfair Display"/>
                <a:sym typeface="Playfair Display"/>
              </a:rPr>
              <a:t> </a:t>
            </a:r>
            <a:r>
              <a:rPr lang="en-US" sz="2950" spc="14">
                <a:solidFill>
                  <a:srgbClr val="2B2C30"/>
                </a:solidFill>
                <a:latin typeface="Playfair Display"/>
                <a:ea typeface="Playfair Display"/>
                <a:cs typeface="Playfair Display"/>
                <a:sym typeface="Playfair Display"/>
              </a:rPr>
              <a:t>t</a:t>
            </a:r>
            <a:r>
              <a:rPr lang="en-US" sz="2950" spc="14">
                <a:solidFill>
                  <a:srgbClr val="2B2C30"/>
                </a:solidFill>
                <a:latin typeface="Playfair Display"/>
                <a:ea typeface="Playfair Display"/>
                <a:cs typeface="Playfair Display"/>
                <a:sym typeface="Playfair Display"/>
              </a:rPr>
              <a:t>hr</a:t>
            </a:r>
            <a:r>
              <a:rPr lang="en-US" sz="2950" spc="14">
                <a:solidFill>
                  <a:srgbClr val="2B2C30"/>
                </a:solidFill>
                <a:latin typeface="Playfair Display"/>
                <a:ea typeface="Playfair Display"/>
                <a:cs typeface="Playfair Display"/>
                <a:sym typeface="Playfair Display"/>
              </a:rPr>
              <a:t>oug</a:t>
            </a:r>
            <a:r>
              <a:rPr lang="en-US" sz="2950" spc="14">
                <a:solidFill>
                  <a:srgbClr val="2B2C30"/>
                </a:solidFill>
                <a:latin typeface="Playfair Display"/>
                <a:ea typeface="Playfair Display"/>
                <a:cs typeface="Playfair Display"/>
                <a:sym typeface="Playfair Display"/>
              </a:rPr>
              <a:t>h </a:t>
            </a:r>
            <a:r>
              <a:rPr lang="en-US" sz="2950" spc="14">
                <a:solidFill>
                  <a:srgbClr val="2B2C30"/>
                </a:solidFill>
                <a:latin typeface="Playfair Display"/>
                <a:ea typeface="Playfair Display"/>
                <a:cs typeface="Playfair Display"/>
                <a:sym typeface="Playfair Display"/>
              </a:rPr>
              <a:t>m</a:t>
            </a:r>
            <a:r>
              <a:rPr lang="en-US" sz="2950" spc="14">
                <a:solidFill>
                  <a:srgbClr val="2B2C30"/>
                </a:solidFill>
                <a:latin typeface="Playfair Display"/>
                <a:ea typeface="Playfair Display"/>
                <a:cs typeface="Playfair Display"/>
                <a:sym typeface="Playfair Display"/>
              </a:rPr>
              <a:t>ul</a:t>
            </a:r>
            <a:r>
              <a:rPr lang="en-US" sz="2950" spc="14">
                <a:solidFill>
                  <a:srgbClr val="2B2C30"/>
                </a:solidFill>
                <a:latin typeface="Playfair Display"/>
                <a:ea typeface="Playfair Display"/>
                <a:cs typeface="Playfair Display"/>
                <a:sym typeface="Playfair Display"/>
              </a:rPr>
              <a:t>ti</a:t>
            </a:r>
            <a:r>
              <a:rPr lang="en-US" sz="2950" spc="14">
                <a:solidFill>
                  <a:srgbClr val="2B2C30"/>
                </a:solidFill>
                <a:latin typeface="Playfair Display"/>
                <a:ea typeface="Playfair Display"/>
                <a:cs typeface="Playfair Display"/>
                <a:sym typeface="Playfair Display"/>
              </a:rPr>
              <a:t>p</a:t>
            </a:r>
            <a:r>
              <a:rPr lang="en-US" sz="2950" spc="14">
                <a:solidFill>
                  <a:srgbClr val="2B2C30"/>
                </a:solidFill>
                <a:latin typeface="Playfair Display"/>
                <a:ea typeface="Playfair Display"/>
                <a:cs typeface="Playfair Display"/>
                <a:sym typeface="Playfair Display"/>
              </a:rPr>
              <a:t>le mod</a:t>
            </a:r>
            <a:r>
              <a:rPr lang="en-US" sz="2950" spc="14">
                <a:solidFill>
                  <a:srgbClr val="2B2C30"/>
                </a:solidFill>
                <a:latin typeface="Playfair Display"/>
                <a:ea typeface="Playfair Display"/>
                <a:cs typeface="Playfair Display"/>
                <a:sym typeface="Playfair Display"/>
              </a:rPr>
              <a:t>el development str</a:t>
            </a:r>
            <a:r>
              <a:rPr lang="en-US" sz="2950" spc="14">
                <a:solidFill>
                  <a:srgbClr val="2B2C30"/>
                </a:solidFill>
                <a:latin typeface="Playfair Display"/>
                <a:ea typeface="Playfair Display"/>
                <a:cs typeface="Playfair Display"/>
                <a:sym typeface="Playfair Display"/>
              </a:rPr>
              <a:t>ate</a:t>
            </a:r>
            <a:r>
              <a:rPr lang="en-US" sz="2950" spc="14">
                <a:solidFill>
                  <a:srgbClr val="2B2C30"/>
                </a:solidFill>
                <a:latin typeface="Playfair Display"/>
                <a:ea typeface="Playfair Display"/>
                <a:cs typeface="Playfair Display"/>
                <a:sym typeface="Playfair Display"/>
              </a:rPr>
              <a:t>g</a:t>
            </a:r>
            <a:r>
              <a:rPr lang="en-US" sz="2950" spc="14">
                <a:solidFill>
                  <a:srgbClr val="2B2C30"/>
                </a:solidFill>
                <a:latin typeface="Playfair Display"/>
                <a:ea typeface="Playfair Display"/>
                <a:cs typeface="Playfair Display"/>
                <a:sym typeface="Playfair Display"/>
              </a:rPr>
              <a:t>ies</a:t>
            </a:r>
            <a:r>
              <a:rPr lang="en-US" sz="2950" spc="14">
                <a:solidFill>
                  <a:srgbClr val="2B2C30"/>
                </a:solidFill>
                <a:latin typeface="Playfair Display"/>
                <a:ea typeface="Playfair Display"/>
                <a:cs typeface="Playfair Display"/>
                <a:sym typeface="Playfair Display"/>
              </a:rPr>
              <a:t>,</a:t>
            </a:r>
            <a:r>
              <a:rPr lang="en-US" sz="2950" spc="14">
                <a:solidFill>
                  <a:srgbClr val="2B2C30"/>
                </a:solidFill>
                <a:latin typeface="Playfair Display"/>
                <a:ea typeface="Playfair Display"/>
                <a:cs typeface="Playfair Display"/>
                <a:sym typeface="Playfair Display"/>
              </a:rPr>
              <a:t> cul</a:t>
            </a:r>
            <a:r>
              <a:rPr lang="en-US" sz="2950" spc="14">
                <a:solidFill>
                  <a:srgbClr val="2B2C30"/>
                </a:solidFill>
                <a:latin typeface="Playfair Display"/>
                <a:ea typeface="Playfair Display"/>
                <a:cs typeface="Playfair Display"/>
                <a:sym typeface="Playfair Display"/>
              </a:rPr>
              <a:t>m</a:t>
            </a:r>
            <a:r>
              <a:rPr lang="en-US" sz="2950" spc="14">
                <a:solidFill>
                  <a:srgbClr val="2B2C30"/>
                </a:solidFill>
                <a:latin typeface="Playfair Display"/>
                <a:ea typeface="Playfair Display"/>
                <a:cs typeface="Playfair Display"/>
                <a:sym typeface="Playfair Display"/>
              </a:rPr>
              <a:t>i</a:t>
            </a:r>
            <a:r>
              <a:rPr lang="en-US" sz="2950" spc="14">
                <a:solidFill>
                  <a:srgbClr val="2B2C30"/>
                </a:solidFill>
                <a:latin typeface="Playfair Display"/>
                <a:ea typeface="Playfair Display"/>
                <a:cs typeface="Playfair Display"/>
                <a:sym typeface="Playfair Display"/>
              </a:rPr>
              <a:t>nating in a performance comparison to select the b</a:t>
            </a:r>
            <a:r>
              <a:rPr lang="en-US" sz="2950" spc="14">
                <a:solidFill>
                  <a:srgbClr val="2B2C30"/>
                </a:solidFill>
                <a:latin typeface="Playfair Display"/>
                <a:ea typeface="Playfair Display"/>
                <a:cs typeface="Playfair Display"/>
                <a:sym typeface="Playfair Display"/>
              </a:rPr>
              <a:t>est m</a:t>
            </a:r>
            <a:r>
              <a:rPr lang="en-US" sz="2950" spc="14">
                <a:solidFill>
                  <a:srgbClr val="2B2C30"/>
                </a:solidFill>
                <a:latin typeface="Playfair Display"/>
                <a:ea typeface="Playfair Display"/>
                <a:cs typeface="Playfair Display"/>
                <a:sym typeface="Playfair Display"/>
              </a:rPr>
              <a:t>od</a:t>
            </a:r>
            <a:r>
              <a:rPr lang="en-US" sz="2950" spc="14">
                <a:solidFill>
                  <a:srgbClr val="2B2C30"/>
                </a:solidFill>
                <a:latin typeface="Playfair Display"/>
                <a:ea typeface="Playfair Display"/>
                <a:cs typeface="Playfair Display"/>
                <a:sym typeface="Playfair Display"/>
              </a:rPr>
              <a:t>e</a:t>
            </a:r>
            <a:r>
              <a:rPr lang="en-US" sz="2950" spc="14">
                <a:solidFill>
                  <a:srgbClr val="2B2C30"/>
                </a:solidFill>
                <a:latin typeface="Playfair Display"/>
                <a:ea typeface="Playfair Display"/>
                <a:cs typeface="Playfair Display"/>
                <a:sym typeface="Playfair Display"/>
              </a:rPr>
              <a:t>l for depl</a:t>
            </a:r>
            <a:r>
              <a:rPr lang="en-US" sz="2950" spc="14">
                <a:solidFill>
                  <a:srgbClr val="2B2C30"/>
                </a:solidFill>
                <a:latin typeface="Playfair Display"/>
                <a:ea typeface="Playfair Display"/>
                <a:cs typeface="Playfair Display"/>
                <a:sym typeface="Playfair Display"/>
              </a:rPr>
              <a:t>o</a:t>
            </a:r>
            <a:r>
              <a:rPr lang="en-US" sz="2950" spc="14">
                <a:solidFill>
                  <a:srgbClr val="2B2C30"/>
                </a:solidFill>
                <a:latin typeface="Playfair Display"/>
                <a:ea typeface="Playfair Display"/>
                <a:cs typeface="Playfair Display"/>
                <a:sym typeface="Playfair Display"/>
              </a:rPr>
              <a:t>y</a:t>
            </a:r>
            <a:r>
              <a:rPr lang="en-US" sz="2950" spc="14">
                <a:solidFill>
                  <a:srgbClr val="2B2C30"/>
                </a:solidFill>
                <a:latin typeface="Playfair Display"/>
                <a:ea typeface="Playfair Display"/>
                <a:cs typeface="Playfair Display"/>
                <a:sym typeface="Playfair Display"/>
              </a:rPr>
              <a:t>ment.</a:t>
            </a:r>
          </a:p>
        </p:txBody>
      </p:sp>
      <p:grpSp>
        <p:nvGrpSpPr>
          <p:cNvPr name="Group 6" id="6"/>
          <p:cNvGrpSpPr/>
          <p:nvPr/>
        </p:nvGrpSpPr>
        <p:grpSpPr>
          <a:xfrm rot="0">
            <a:off x="1028711" y="1809895"/>
            <a:ext cx="6923262" cy="8082807"/>
            <a:chOff x="0" y="0"/>
            <a:chExt cx="9231017" cy="10777076"/>
          </a:xfrm>
        </p:grpSpPr>
        <p:grpSp>
          <p:nvGrpSpPr>
            <p:cNvPr name="Group 7" id="7"/>
            <p:cNvGrpSpPr/>
            <p:nvPr/>
          </p:nvGrpSpPr>
          <p:grpSpPr>
            <a:xfrm rot="0">
              <a:off x="0" y="0"/>
              <a:ext cx="9231017" cy="10777076"/>
              <a:chOff x="0" y="0"/>
              <a:chExt cx="2105775" cy="2458461"/>
            </a:xfrm>
          </p:grpSpPr>
          <p:sp>
            <p:nvSpPr>
              <p:cNvPr name="Freeform 8" id="8"/>
              <p:cNvSpPr/>
              <p:nvPr/>
            </p:nvSpPr>
            <p:spPr>
              <a:xfrm flipH="false" flipV="false" rot="0">
                <a:off x="0" y="0"/>
                <a:ext cx="2105775" cy="2458461"/>
              </a:xfrm>
              <a:custGeom>
                <a:avLst/>
                <a:gdLst/>
                <a:ahLst/>
                <a:cxnLst/>
                <a:rect r="r" b="b" t="t" l="l"/>
                <a:pathLst>
                  <a:path h="2458461" w="2105775">
                    <a:moveTo>
                      <a:pt x="0" y="0"/>
                    </a:moveTo>
                    <a:lnTo>
                      <a:pt x="2105775" y="0"/>
                    </a:lnTo>
                    <a:lnTo>
                      <a:pt x="2105775" y="2458461"/>
                    </a:lnTo>
                    <a:lnTo>
                      <a:pt x="0" y="2458461"/>
                    </a:lnTo>
                    <a:close/>
                  </a:path>
                </a:pathLst>
              </a:custGeom>
              <a:ln w="9525" cap="sq">
                <a:solidFill>
                  <a:srgbClr val="2B2C30"/>
                </a:solidFill>
                <a:prstDash val="solid"/>
                <a:miter/>
              </a:ln>
            </p:spPr>
          </p:sp>
          <p:sp>
            <p:nvSpPr>
              <p:cNvPr name="TextBox 9" id="9"/>
              <p:cNvSpPr txBox="true"/>
              <p:nvPr/>
            </p:nvSpPr>
            <p:spPr>
              <a:xfrm>
                <a:off x="0" y="-28575"/>
                <a:ext cx="2105775" cy="2487036"/>
              </a:xfrm>
              <a:prstGeom prst="rect">
                <a:avLst/>
              </a:prstGeom>
            </p:spPr>
            <p:txBody>
              <a:bodyPr anchor="ctr" rtlCol="false" tIns="68580" lIns="68580" bIns="68580" rIns="68580"/>
              <a:lstStyle/>
              <a:p>
                <a:pPr algn="ctr">
                  <a:lnSpc>
                    <a:spcPts val="1889"/>
                  </a:lnSpc>
                </a:pPr>
              </a:p>
            </p:txBody>
          </p:sp>
        </p:grpSp>
        <p:sp>
          <p:nvSpPr>
            <p:cNvPr name="Freeform 10" id="10"/>
            <p:cNvSpPr/>
            <p:nvPr/>
          </p:nvSpPr>
          <p:spPr>
            <a:xfrm flipH="false" flipV="false" rot="0">
              <a:off x="560981" y="480308"/>
              <a:ext cx="8109054" cy="9816460"/>
            </a:xfrm>
            <a:custGeom>
              <a:avLst/>
              <a:gdLst/>
              <a:ahLst/>
              <a:cxnLst/>
              <a:rect r="r" b="b" t="t" l="l"/>
              <a:pathLst>
                <a:path h="9816460" w="8109054">
                  <a:moveTo>
                    <a:pt x="0" y="0"/>
                  </a:moveTo>
                  <a:lnTo>
                    <a:pt x="8109054" y="0"/>
                  </a:lnTo>
                  <a:lnTo>
                    <a:pt x="8109054" y="9816460"/>
                  </a:lnTo>
                  <a:lnTo>
                    <a:pt x="0" y="9816460"/>
                  </a:lnTo>
                  <a:lnTo>
                    <a:pt x="0" y="0"/>
                  </a:lnTo>
                  <a:close/>
                </a:path>
              </a:pathLst>
            </a:custGeom>
            <a:blipFill>
              <a:blip r:embed="rId3"/>
              <a:stretch>
                <a:fillRect l="-1313" t="0" r="0" b="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MODULE WISE DESCRIPTION</a:t>
            </a:r>
          </a:p>
        </p:txBody>
      </p:sp>
      <p:sp>
        <p:nvSpPr>
          <p:cNvPr name="AutoShape 3" id="3"/>
          <p:cNvSpPr/>
          <p:nvPr/>
        </p:nvSpPr>
        <p:spPr>
          <a:xfrm flipV="true">
            <a:off x="1028711" y="1598836"/>
            <a:ext cx="16230594" cy="38509"/>
          </a:xfrm>
          <a:prstGeom prst="line">
            <a:avLst/>
          </a:prstGeom>
          <a:ln cap="flat" w="9525">
            <a:solidFill>
              <a:srgbClr val="2B2C30"/>
            </a:solidFill>
            <a:prstDash val="solid"/>
            <a:headEnd type="none" len="sm" w="sm"/>
            <a:tailEnd type="none" len="sm" w="sm"/>
          </a:ln>
        </p:spPr>
      </p:sp>
      <p:grpSp>
        <p:nvGrpSpPr>
          <p:cNvPr name="Group 4" id="4"/>
          <p:cNvGrpSpPr/>
          <p:nvPr/>
        </p:nvGrpSpPr>
        <p:grpSpPr>
          <a:xfrm rot="0">
            <a:off x="1028700" y="1792534"/>
            <a:ext cx="6923262" cy="8082807"/>
            <a:chOff x="0" y="0"/>
            <a:chExt cx="9231017" cy="10777076"/>
          </a:xfrm>
        </p:grpSpPr>
        <p:grpSp>
          <p:nvGrpSpPr>
            <p:cNvPr name="Group 5" id="5"/>
            <p:cNvGrpSpPr/>
            <p:nvPr/>
          </p:nvGrpSpPr>
          <p:grpSpPr>
            <a:xfrm rot="0">
              <a:off x="0" y="0"/>
              <a:ext cx="9231017" cy="10777076"/>
              <a:chOff x="0" y="0"/>
              <a:chExt cx="2105775" cy="2458461"/>
            </a:xfrm>
          </p:grpSpPr>
          <p:sp>
            <p:nvSpPr>
              <p:cNvPr name="Freeform 6" id="6"/>
              <p:cNvSpPr/>
              <p:nvPr/>
            </p:nvSpPr>
            <p:spPr>
              <a:xfrm flipH="false" flipV="false" rot="0">
                <a:off x="0" y="0"/>
                <a:ext cx="2105775" cy="2458461"/>
              </a:xfrm>
              <a:custGeom>
                <a:avLst/>
                <a:gdLst/>
                <a:ahLst/>
                <a:cxnLst/>
                <a:rect r="r" b="b" t="t" l="l"/>
                <a:pathLst>
                  <a:path h="2458461" w="2105775">
                    <a:moveTo>
                      <a:pt x="0" y="0"/>
                    </a:moveTo>
                    <a:lnTo>
                      <a:pt x="2105775" y="0"/>
                    </a:lnTo>
                    <a:lnTo>
                      <a:pt x="2105775" y="2458461"/>
                    </a:lnTo>
                    <a:lnTo>
                      <a:pt x="0" y="2458461"/>
                    </a:lnTo>
                    <a:close/>
                  </a:path>
                </a:pathLst>
              </a:custGeom>
              <a:ln w="9525" cap="sq">
                <a:solidFill>
                  <a:srgbClr val="2B2C30"/>
                </a:solidFill>
                <a:prstDash val="solid"/>
                <a:miter/>
              </a:ln>
            </p:spPr>
          </p:sp>
          <p:sp>
            <p:nvSpPr>
              <p:cNvPr name="TextBox 7" id="7"/>
              <p:cNvSpPr txBox="true"/>
              <p:nvPr/>
            </p:nvSpPr>
            <p:spPr>
              <a:xfrm>
                <a:off x="0" y="-28575"/>
                <a:ext cx="2105775" cy="2487036"/>
              </a:xfrm>
              <a:prstGeom prst="rect">
                <a:avLst/>
              </a:prstGeom>
            </p:spPr>
            <p:txBody>
              <a:bodyPr anchor="ctr" rtlCol="false" tIns="68580" lIns="68580" bIns="68580" rIns="68580"/>
              <a:lstStyle/>
              <a:p>
                <a:pPr algn="ctr">
                  <a:lnSpc>
                    <a:spcPts val="1889"/>
                  </a:lnSpc>
                </a:pPr>
              </a:p>
            </p:txBody>
          </p:sp>
        </p:grpSp>
        <p:sp>
          <p:nvSpPr>
            <p:cNvPr name="Freeform 8" id="8"/>
            <p:cNvSpPr/>
            <p:nvPr/>
          </p:nvSpPr>
          <p:spPr>
            <a:xfrm flipH="false" flipV="false" rot="0">
              <a:off x="560981" y="480308"/>
              <a:ext cx="8109054" cy="9816460"/>
            </a:xfrm>
            <a:custGeom>
              <a:avLst/>
              <a:gdLst/>
              <a:ahLst/>
              <a:cxnLst/>
              <a:rect r="r" b="b" t="t" l="l"/>
              <a:pathLst>
                <a:path h="9816460" w="8109054">
                  <a:moveTo>
                    <a:pt x="0" y="0"/>
                  </a:moveTo>
                  <a:lnTo>
                    <a:pt x="8109054" y="0"/>
                  </a:lnTo>
                  <a:lnTo>
                    <a:pt x="8109054" y="9816460"/>
                  </a:lnTo>
                  <a:lnTo>
                    <a:pt x="0" y="9816460"/>
                  </a:lnTo>
                  <a:lnTo>
                    <a:pt x="0" y="0"/>
                  </a:lnTo>
                  <a:close/>
                </a:path>
              </a:pathLst>
            </a:custGeom>
            <a:blipFill>
              <a:blip r:embed="rId2"/>
              <a:stretch>
                <a:fillRect l="-1313" t="0" r="0" b="0"/>
              </a:stretch>
            </a:blipFill>
          </p:spPr>
        </p:sp>
      </p:grpSp>
      <p:sp>
        <p:nvSpPr>
          <p:cNvPr name="Freeform 9" id="9"/>
          <p:cNvSpPr/>
          <p:nvPr/>
        </p:nvSpPr>
        <p:spPr>
          <a:xfrm flipH="false" flipV="false" rot="0">
            <a:off x="15182008" y="8730122"/>
            <a:ext cx="2994175" cy="1556878"/>
          </a:xfrm>
          <a:custGeom>
            <a:avLst/>
            <a:gdLst/>
            <a:ahLst/>
            <a:cxnLst/>
            <a:rect r="r" b="b" t="t" l="l"/>
            <a:pathLst>
              <a:path h="1556878" w="2994175">
                <a:moveTo>
                  <a:pt x="0" y="0"/>
                </a:moveTo>
                <a:lnTo>
                  <a:pt x="2994175" y="0"/>
                </a:lnTo>
                <a:lnTo>
                  <a:pt x="2994175" y="1556878"/>
                </a:lnTo>
                <a:lnTo>
                  <a:pt x="0" y="1556878"/>
                </a:lnTo>
                <a:lnTo>
                  <a:pt x="0" y="0"/>
                </a:lnTo>
                <a:close/>
              </a:path>
            </a:pathLst>
          </a:custGeom>
          <a:blipFill>
            <a:blip r:embed="rId3"/>
            <a:stretch>
              <a:fillRect l="-16444" t="-90820" r="-20598" b="-72738"/>
            </a:stretch>
          </a:blipFill>
        </p:spPr>
      </p:sp>
      <p:sp>
        <p:nvSpPr>
          <p:cNvPr name="TextBox 10" id="10"/>
          <p:cNvSpPr txBox="true"/>
          <p:nvPr/>
        </p:nvSpPr>
        <p:spPr>
          <a:xfrm rot="0">
            <a:off x="8280748" y="2504513"/>
            <a:ext cx="8978557" cy="5334629"/>
          </a:xfrm>
          <a:prstGeom prst="rect">
            <a:avLst/>
          </a:prstGeom>
        </p:spPr>
        <p:txBody>
          <a:bodyPr anchor="t" rtlCol="false" tIns="0" lIns="0" bIns="0" rIns="0">
            <a:spAutoFit/>
          </a:bodyPr>
          <a:lstStyle/>
          <a:p>
            <a:pPr algn="l">
              <a:lnSpc>
                <a:spcPts val="3835"/>
              </a:lnSpc>
            </a:pPr>
            <a:r>
              <a:rPr lang="en-US" b="true" sz="2950" spc="14" u="sng">
                <a:solidFill>
                  <a:srgbClr val="2B2C30"/>
                </a:solidFill>
                <a:latin typeface="Playfair Display Bold"/>
                <a:ea typeface="Playfair Display Bold"/>
                <a:cs typeface="Playfair Display Bold"/>
                <a:sym typeface="Playfair Display Bold"/>
              </a:rPr>
              <a:t>1. Data Collection</a:t>
            </a:r>
          </a:p>
          <a:p>
            <a:pPr algn="l" marL="637000" indent="-318500" lvl="1">
              <a:lnSpc>
                <a:spcPts val="3835"/>
              </a:lnSpc>
              <a:buFont typeface="Arial"/>
              <a:buChar char="•"/>
            </a:pPr>
            <a:r>
              <a:rPr lang="en-US" b="true" sz="2950" spc="14">
                <a:solidFill>
                  <a:srgbClr val="2B2C30"/>
                </a:solidFill>
                <a:latin typeface="Playfair Display Bold"/>
                <a:ea typeface="Playfair Display Bold"/>
                <a:cs typeface="Playfair Display Bold"/>
                <a:sym typeface="Playfair Display Bold"/>
              </a:rPr>
              <a:t>Purpose: </a:t>
            </a:r>
            <a:r>
              <a:rPr lang="en-US" sz="2950" spc="14">
                <a:solidFill>
                  <a:srgbClr val="2B2C30"/>
                </a:solidFill>
                <a:latin typeface="Playfair Display"/>
                <a:ea typeface="Playfair Display"/>
                <a:cs typeface="Playfair Display"/>
                <a:sym typeface="Playfair Display"/>
              </a:rPr>
              <a:t>To gather the foundational imag</a:t>
            </a:r>
            <a:r>
              <a:rPr lang="en-US" sz="2950" spc="14">
                <a:solidFill>
                  <a:srgbClr val="2B2C30"/>
                </a:solidFill>
                <a:latin typeface="Playfair Display"/>
                <a:ea typeface="Playfair Display"/>
                <a:cs typeface="Playfair Display"/>
                <a:sym typeface="Playfair Display"/>
              </a:rPr>
              <a:t>e</a:t>
            </a:r>
            <a:r>
              <a:rPr lang="en-US" sz="2950" spc="14">
                <a:solidFill>
                  <a:srgbClr val="2B2C30"/>
                </a:solidFill>
                <a:latin typeface="Playfair Display"/>
                <a:ea typeface="Playfair Display"/>
                <a:cs typeface="Playfair Display"/>
                <a:sym typeface="Playfair Display"/>
              </a:rPr>
              <a:t> dataset required for train</a:t>
            </a:r>
            <a:r>
              <a:rPr lang="en-US" sz="2950" spc="14">
                <a:solidFill>
                  <a:srgbClr val="2B2C30"/>
                </a:solidFill>
                <a:latin typeface="Playfair Display"/>
                <a:ea typeface="Playfair Display"/>
                <a:cs typeface="Playfair Display"/>
                <a:sym typeface="Playfair Display"/>
              </a:rPr>
              <a:t>in</a:t>
            </a:r>
            <a:r>
              <a:rPr lang="en-US" sz="2950" spc="14">
                <a:solidFill>
                  <a:srgbClr val="2B2C30"/>
                </a:solidFill>
                <a:latin typeface="Playfair Display"/>
                <a:ea typeface="Playfair Display"/>
                <a:cs typeface="Playfair Display"/>
                <a:sym typeface="Playfair Display"/>
              </a:rPr>
              <a:t>g</a:t>
            </a:r>
            <a:r>
              <a:rPr lang="en-US" sz="2950" spc="14">
                <a:solidFill>
                  <a:srgbClr val="2B2C30"/>
                </a:solidFill>
                <a:latin typeface="Playfair Display"/>
                <a:ea typeface="Playfair Display"/>
                <a:cs typeface="Playfair Display"/>
                <a:sym typeface="Playfair Display"/>
              </a:rPr>
              <a:t> and</a:t>
            </a:r>
            <a:r>
              <a:rPr lang="en-US" sz="2950" spc="14">
                <a:solidFill>
                  <a:srgbClr val="2B2C30"/>
                </a:solidFill>
                <a:latin typeface="Playfair Display"/>
                <a:ea typeface="Playfair Display"/>
                <a:cs typeface="Playfair Display"/>
                <a:sym typeface="Playfair Display"/>
              </a:rPr>
              <a:t> evaluating the models.</a:t>
            </a:r>
          </a:p>
          <a:p>
            <a:pPr algn="l" marL="637000" indent="-318500" lvl="1">
              <a:lnSpc>
                <a:spcPts val="3835"/>
              </a:lnSpc>
              <a:buFont typeface="Arial"/>
              <a:buChar char="•"/>
            </a:pPr>
            <a:r>
              <a:rPr lang="en-US" b="true" sz="2950" spc="14">
                <a:solidFill>
                  <a:srgbClr val="2B2C30"/>
                </a:solidFill>
                <a:latin typeface="Playfair Display Bold"/>
                <a:ea typeface="Playfair Display Bold"/>
                <a:cs typeface="Playfair Display Bold"/>
                <a:sym typeface="Playfair Display Bold"/>
              </a:rPr>
              <a:t>Key Activity:</a:t>
            </a:r>
          </a:p>
          <a:p>
            <a:pPr algn="l" marL="1274000" indent="-424667" lvl="2">
              <a:lnSpc>
                <a:spcPts val="3835"/>
              </a:lnSpc>
              <a:buFont typeface="Arial"/>
              <a:buChar char="⚬"/>
            </a:pPr>
            <a:r>
              <a:rPr lang="en-US" sz="2950" spc="14">
                <a:solidFill>
                  <a:srgbClr val="2B2C30"/>
                </a:solidFill>
                <a:latin typeface="Playfair Display"/>
                <a:ea typeface="Playfair Display"/>
                <a:cs typeface="Playfair Display"/>
                <a:sym typeface="Playfair Display"/>
              </a:rPr>
              <a:t>Dataset Acquisition: Sourcing a balanced and annotated dataset of chest X ray images. The dataset is specifically curated to contain four classes, ensuring</a:t>
            </a:r>
            <a:r>
              <a:rPr lang="en-US" sz="2950" spc="14">
                <a:solidFill>
                  <a:srgbClr val="2B2C30"/>
                </a:solidFill>
                <a:latin typeface="Playfair Display"/>
                <a:ea typeface="Playfair Display"/>
                <a:cs typeface="Playfair Display"/>
                <a:sym typeface="Playfair Display"/>
              </a:rPr>
              <a:t> a r</a:t>
            </a:r>
            <a:r>
              <a:rPr lang="en-US" sz="2950" spc="14">
                <a:solidFill>
                  <a:srgbClr val="2B2C30"/>
                </a:solidFill>
                <a:latin typeface="Playfair Display"/>
                <a:ea typeface="Playfair Display"/>
                <a:cs typeface="Playfair Display"/>
                <a:sym typeface="Playfair Display"/>
              </a:rPr>
              <a:t>obu</a:t>
            </a:r>
            <a:r>
              <a:rPr lang="en-US" sz="2950" spc="14">
                <a:solidFill>
                  <a:srgbClr val="2B2C30"/>
                </a:solidFill>
                <a:latin typeface="Playfair Display"/>
                <a:ea typeface="Playfair Display"/>
                <a:cs typeface="Playfair Display"/>
                <a:sym typeface="Playfair Display"/>
              </a:rPr>
              <a:t>st</a:t>
            </a:r>
            <a:r>
              <a:rPr lang="en-US" sz="2950" spc="14">
                <a:solidFill>
                  <a:srgbClr val="2B2C30"/>
                </a:solidFill>
                <a:latin typeface="Playfair Display"/>
                <a:ea typeface="Playfair Display"/>
                <a:cs typeface="Playfair Display"/>
                <a:sym typeface="Playfair Display"/>
              </a:rPr>
              <a:t> </a:t>
            </a:r>
            <a:r>
              <a:rPr lang="en-US" sz="2950" spc="14">
                <a:solidFill>
                  <a:srgbClr val="2B2C30"/>
                </a:solidFill>
                <a:latin typeface="Playfair Display"/>
                <a:ea typeface="Playfair Display"/>
                <a:cs typeface="Playfair Display"/>
                <a:sym typeface="Playfair Display"/>
              </a:rPr>
              <a:t>m</a:t>
            </a:r>
            <a:r>
              <a:rPr lang="en-US" sz="2950" spc="14">
                <a:solidFill>
                  <a:srgbClr val="2B2C30"/>
                </a:solidFill>
                <a:latin typeface="Playfair Display"/>
                <a:ea typeface="Playfair Display"/>
                <a:cs typeface="Playfair Display"/>
                <a:sym typeface="Playfair Display"/>
              </a:rPr>
              <a:t>ul</a:t>
            </a:r>
            <a:r>
              <a:rPr lang="en-US" sz="2950" spc="14">
                <a:solidFill>
                  <a:srgbClr val="2B2C30"/>
                </a:solidFill>
                <a:latin typeface="Playfair Display"/>
                <a:ea typeface="Playfair Display"/>
                <a:cs typeface="Playfair Display"/>
                <a:sym typeface="Playfair Display"/>
              </a:rPr>
              <a:t>ti c</a:t>
            </a:r>
            <a:r>
              <a:rPr lang="en-US" sz="2950" spc="14">
                <a:solidFill>
                  <a:srgbClr val="2B2C30"/>
                </a:solidFill>
                <a:latin typeface="Playfair Display"/>
                <a:ea typeface="Playfair Display"/>
                <a:cs typeface="Playfair Display"/>
                <a:sym typeface="Playfair Display"/>
              </a:rPr>
              <a:t>las</a:t>
            </a:r>
            <a:r>
              <a:rPr lang="en-US" sz="2950" spc="14">
                <a:solidFill>
                  <a:srgbClr val="2B2C30"/>
                </a:solidFill>
                <a:latin typeface="Playfair Display"/>
                <a:ea typeface="Playfair Display"/>
                <a:cs typeface="Playfair Display"/>
                <a:sym typeface="Playfair Display"/>
              </a:rPr>
              <a:t>s cl</a:t>
            </a:r>
            <a:r>
              <a:rPr lang="en-US" sz="2950" spc="14">
                <a:solidFill>
                  <a:srgbClr val="2B2C30"/>
                </a:solidFill>
                <a:latin typeface="Playfair Display"/>
                <a:ea typeface="Playfair Display"/>
                <a:cs typeface="Playfair Display"/>
                <a:sym typeface="Playfair Display"/>
              </a:rPr>
              <a:t>assification chall</a:t>
            </a:r>
            <a:r>
              <a:rPr lang="en-US" sz="2950" spc="14">
                <a:solidFill>
                  <a:srgbClr val="2B2C30"/>
                </a:solidFill>
                <a:latin typeface="Playfair Display"/>
                <a:ea typeface="Playfair Display"/>
                <a:cs typeface="Playfair Display"/>
                <a:sym typeface="Playfair Display"/>
              </a:rPr>
              <a:t>enge.</a:t>
            </a:r>
          </a:p>
          <a:p>
            <a:pPr algn="l">
              <a:lnSpc>
                <a:spcPts val="3835"/>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MODULE WISE DESCRIPTION</a:t>
            </a:r>
          </a:p>
        </p:txBody>
      </p:sp>
      <p:sp>
        <p:nvSpPr>
          <p:cNvPr name="AutoShape 3" id="3"/>
          <p:cNvSpPr/>
          <p:nvPr/>
        </p:nvSpPr>
        <p:spPr>
          <a:xfrm flipV="true">
            <a:off x="1028711" y="1598836"/>
            <a:ext cx="16230594" cy="38509"/>
          </a:xfrm>
          <a:prstGeom prst="line">
            <a:avLst/>
          </a:prstGeom>
          <a:ln cap="flat" w="9525">
            <a:solidFill>
              <a:srgbClr val="2B2C30"/>
            </a:solidFill>
            <a:prstDash val="solid"/>
            <a:headEnd type="none" len="sm" w="sm"/>
            <a:tailEnd type="none" len="sm" w="sm"/>
          </a:ln>
        </p:spPr>
      </p:sp>
      <p:grpSp>
        <p:nvGrpSpPr>
          <p:cNvPr name="Group 4" id="4"/>
          <p:cNvGrpSpPr/>
          <p:nvPr/>
        </p:nvGrpSpPr>
        <p:grpSpPr>
          <a:xfrm rot="0">
            <a:off x="1161784" y="1747521"/>
            <a:ext cx="6923262" cy="8082807"/>
            <a:chOff x="0" y="0"/>
            <a:chExt cx="9231017" cy="10777076"/>
          </a:xfrm>
        </p:grpSpPr>
        <p:grpSp>
          <p:nvGrpSpPr>
            <p:cNvPr name="Group 5" id="5"/>
            <p:cNvGrpSpPr/>
            <p:nvPr/>
          </p:nvGrpSpPr>
          <p:grpSpPr>
            <a:xfrm rot="0">
              <a:off x="0" y="0"/>
              <a:ext cx="9231017" cy="10777076"/>
              <a:chOff x="0" y="0"/>
              <a:chExt cx="2105775" cy="2458461"/>
            </a:xfrm>
          </p:grpSpPr>
          <p:sp>
            <p:nvSpPr>
              <p:cNvPr name="Freeform 6" id="6"/>
              <p:cNvSpPr/>
              <p:nvPr/>
            </p:nvSpPr>
            <p:spPr>
              <a:xfrm flipH="false" flipV="false" rot="0">
                <a:off x="0" y="0"/>
                <a:ext cx="2105775" cy="2458461"/>
              </a:xfrm>
              <a:custGeom>
                <a:avLst/>
                <a:gdLst/>
                <a:ahLst/>
                <a:cxnLst/>
                <a:rect r="r" b="b" t="t" l="l"/>
                <a:pathLst>
                  <a:path h="2458461" w="2105775">
                    <a:moveTo>
                      <a:pt x="0" y="0"/>
                    </a:moveTo>
                    <a:lnTo>
                      <a:pt x="2105775" y="0"/>
                    </a:lnTo>
                    <a:lnTo>
                      <a:pt x="2105775" y="2458461"/>
                    </a:lnTo>
                    <a:lnTo>
                      <a:pt x="0" y="2458461"/>
                    </a:lnTo>
                    <a:close/>
                  </a:path>
                </a:pathLst>
              </a:custGeom>
              <a:ln w="9525" cap="sq">
                <a:solidFill>
                  <a:srgbClr val="2B2C30"/>
                </a:solidFill>
                <a:prstDash val="solid"/>
                <a:miter/>
              </a:ln>
            </p:spPr>
          </p:sp>
          <p:sp>
            <p:nvSpPr>
              <p:cNvPr name="TextBox 7" id="7"/>
              <p:cNvSpPr txBox="true"/>
              <p:nvPr/>
            </p:nvSpPr>
            <p:spPr>
              <a:xfrm>
                <a:off x="0" y="-28575"/>
                <a:ext cx="2105775" cy="2487036"/>
              </a:xfrm>
              <a:prstGeom prst="rect">
                <a:avLst/>
              </a:prstGeom>
            </p:spPr>
            <p:txBody>
              <a:bodyPr anchor="ctr" rtlCol="false" tIns="68580" lIns="68580" bIns="68580" rIns="68580"/>
              <a:lstStyle/>
              <a:p>
                <a:pPr algn="ctr">
                  <a:lnSpc>
                    <a:spcPts val="1889"/>
                  </a:lnSpc>
                </a:pPr>
              </a:p>
            </p:txBody>
          </p:sp>
        </p:grpSp>
        <p:sp>
          <p:nvSpPr>
            <p:cNvPr name="Freeform 8" id="8"/>
            <p:cNvSpPr/>
            <p:nvPr/>
          </p:nvSpPr>
          <p:spPr>
            <a:xfrm flipH="false" flipV="false" rot="0">
              <a:off x="560981" y="480308"/>
              <a:ext cx="8109054" cy="9816460"/>
            </a:xfrm>
            <a:custGeom>
              <a:avLst/>
              <a:gdLst/>
              <a:ahLst/>
              <a:cxnLst/>
              <a:rect r="r" b="b" t="t" l="l"/>
              <a:pathLst>
                <a:path h="9816460" w="8109054">
                  <a:moveTo>
                    <a:pt x="0" y="0"/>
                  </a:moveTo>
                  <a:lnTo>
                    <a:pt x="8109054" y="0"/>
                  </a:lnTo>
                  <a:lnTo>
                    <a:pt x="8109054" y="9816460"/>
                  </a:lnTo>
                  <a:lnTo>
                    <a:pt x="0" y="9816460"/>
                  </a:lnTo>
                  <a:lnTo>
                    <a:pt x="0" y="0"/>
                  </a:lnTo>
                  <a:close/>
                </a:path>
              </a:pathLst>
            </a:custGeom>
            <a:blipFill>
              <a:blip r:embed="rId2"/>
              <a:stretch>
                <a:fillRect l="-1313" t="0" r="0" b="0"/>
              </a:stretch>
            </a:blipFill>
          </p:spPr>
        </p:sp>
      </p:grpSp>
      <p:sp>
        <p:nvSpPr>
          <p:cNvPr name="Freeform 9" id="9"/>
          <p:cNvSpPr/>
          <p:nvPr/>
        </p:nvSpPr>
        <p:spPr>
          <a:xfrm flipH="false" flipV="false" rot="0">
            <a:off x="15182008" y="8730122"/>
            <a:ext cx="2994175" cy="1556878"/>
          </a:xfrm>
          <a:custGeom>
            <a:avLst/>
            <a:gdLst/>
            <a:ahLst/>
            <a:cxnLst/>
            <a:rect r="r" b="b" t="t" l="l"/>
            <a:pathLst>
              <a:path h="1556878" w="2994175">
                <a:moveTo>
                  <a:pt x="0" y="0"/>
                </a:moveTo>
                <a:lnTo>
                  <a:pt x="2994175" y="0"/>
                </a:lnTo>
                <a:lnTo>
                  <a:pt x="2994175" y="1556878"/>
                </a:lnTo>
                <a:lnTo>
                  <a:pt x="0" y="1556878"/>
                </a:lnTo>
                <a:lnTo>
                  <a:pt x="0" y="0"/>
                </a:lnTo>
                <a:close/>
              </a:path>
            </a:pathLst>
          </a:custGeom>
          <a:blipFill>
            <a:blip r:embed="rId3"/>
            <a:stretch>
              <a:fillRect l="-16444" t="-90820" r="-20598" b="-72738"/>
            </a:stretch>
          </a:blipFill>
        </p:spPr>
      </p:sp>
      <p:sp>
        <p:nvSpPr>
          <p:cNvPr name="TextBox 10" id="10"/>
          <p:cNvSpPr txBox="true"/>
          <p:nvPr/>
        </p:nvSpPr>
        <p:spPr>
          <a:xfrm rot="0">
            <a:off x="8258914" y="1718946"/>
            <a:ext cx="8978557" cy="8051794"/>
          </a:xfrm>
          <a:prstGeom prst="rect">
            <a:avLst/>
          </a:prstGeom>
        </p:spPr>
        <p:txBody>
          <a:bodyPr anchor="t" rtlCol="false" tIns="0" lIns="0" bIns="0" rIns="0">
            <a:spAutoFit/>
          </a:bodyPr>
          <a:lstStyle/>
          <a:p>
            <a:pPr algn="l">
              <a:lnSpc>
                <a:spcPts val="3575"/>
              </a:lnSpc>
            </a:pPr>
            <a:r>
              <a:rPr lang="en-US" b="true" sz="2750" spc="13" u="sng">
                <a:solidFill>
                  <a:srgbClr val="2B2C30"/>
                </a:solidFill>
                <a:latin typeface="Playfair Display Bold"/>
                <a:ea typeface="Playfair Display Bold"/>
                <a:cs typeface="Playfair Display Bold"/>
                <a:sym typeface="Playfair Display Bold"/>
              </a:rPr>
              <a:t>2. Data Preparation</a:t>
            </a:r>
          </a:p>
          <a:p>
            <a:pPr algn="l" marL="593821" indent="-296911" lvl="1">
              <a:lnSpc>
                <a:spcPts val="3575"/>
              </a:lnSpc>
              <a:buFont typeface="Arial"/>
              <a:buChar char="•"/>
            </a:pPr>
            <a:r>
              <a:rPr lang="en-US" b="true" sz="2750" spc="13">
                <a:solidFill>
                  <a:srgbClr val="2B2C30"/>
                </a:solidFill>
                <a:latin typeface="Playfair Display Bold"/>
                <a:ea typeface="Playfair Display Bold"/>
                <a:cs typeface="Playfair Display Bold"/>
                <a:sym typeface="Playfair Display Bold"/>
              </a:rPr>
              <a:t>Purpose:</a:t>
            </a:r>
            <a:r>
              <a:rPr lang="en-US" sz="2750" spc="13">
                <a:solidFill>
                  <a:srgbClr val="2B2C30"/>
                </a:solidFill>
                <a:latin typeface="Playfair Display"/>
                <a:ea typeface="Playfair Display"/>
                <a:cs typeface="Playfair Display"/>
                <a:sym typeface="Playfair Display"/>
              </a:rPr>
              <a:t> To</a:t>
            </a:r>
            <a:r>
              <a:rPr lang="en-US" sz="2750" spc="13">
                <a:solidFill>
                  <a:srgbClr val="2B2C30"/>
                </a:solidFill>
                <a:latin typeface="Playfair Display"/>
                <a:ea typeface="Playfair Display"/>
                <a:cs typeface="Playfair Display"/>
                <a:sym typeface="Playfair Display"/>
              </a:rPr>
              <a:t> </a:t>
            </a:r>
            <a:r>
              <a:rPr lang="en-US" sz="2750" spc="13">
                <a:solidFill>
                  <a:srgbClr val="2B2C30"/>
                </a:solidFill>
                <a:latin typeface="Playfair Display"/>
                <a:ea typeface="Playfair Display"/>
                <a:cs typeface="Playfair Display"/>
                <a:sym typeface="Playfair Display"/>
              </a:rPr>
              <a:t>load and structure th</a:t>
            </a:r>
            <a:r>
              <a:rPr lang="en-US" sz="2750" spc="13">
                <a:solidFill>
                  <a:srgbClr val="2B2C30"/>
                </a:solidFill>
                <a:latin typeface="Playfair Display"/>
                <a:ea typeface="Playfair Display"/>
                <a:cs typeface="Playfair Display"/>
                <a:sym typeface="Playfair Display"/>
              </a:rPr>
              <a:t>e</a:t>
            </a:r>
            <a:r>
              <a:rPr lang="en-US" sz="2750" spc="13">
                <a:solidFill>
                  <a:srgbClr val="2B2C30"/>
                </a:solidFill>
                <a:latin typeface="Playfair Display"/>
                <a:ea typeface="Playfair Display"/>
                <a:cs typeface="Playfair Display"/>
                <a:sym typeface="Playfair Display"/>
              </a:rPr>
              <a:t> data for the machine learn</a:t>
            </a:r>
            <a:r>
              <a:rPr lang="en-US" sz="2750" spc="13">
                <a:solidFill>
                  <a:srgbClr val="2B2C30"/>
                </a:solidFill>
                <a:latin typeface="Playfair Display"/>
                <a:ea typeface="Playfair Display"/>
                <a:cs typeface="Playfair Display"/>
                <a:sym typeface="Playfair Display"/>
              </a:rPr>
              <a:t>in</a:t>
            </a:r>
            <a:r>
              <a:rPr lang="en-US" sz="2750" spc="13">
                <a:solidFill>
                  <a:srgbClr val="2B2C30"/>
                </a:solidFill>
                <a:latin typeface="Playfair Display"/>
                <a:ea typeface="Playfair Display"/>
                <a:cs typeface="Playfair Display"/>
                <a:sym typeface="Playfair Display"/>
              </a:rPr>
              <a:t>g</a:t>
            </a:r>
            <a:r>
              <a:rPr lang="en-US" sz="2750" spc="13">
                <a:solidFill>
                  <a:srgbClr val="2B2C30"/>
                </a:solidFill>
                <a:latin typeface="Playfair Display"/>
                <a:ea typeface="Playfair Display"/>
                <a:cs typeface="Playfair Display"/>
                <a:sym typeface="Playfair Display"/>
              </a:rPr>
              <a:t> pip</a:t>
            </a:r>
            <a:r>
              <a:rPr lang="en-US" sz="2750" spc="13">
                <a:solidFill>
                  <a:srgbClr val="2B2C30"/>
                </a:solidFill>
                <a:latin typeface="Playfair Display"/>
                <a:ea typeface="Playfair Display"/>
                <a:cs typeface="Playfair Display"/>
                <a:sym typeface="Playfair Display"/>
              </a:rPr>
              <a:t>eline.</a:t>
            </a:r>
          </a:p>
          <a:p>
            <a:pPr algn="l" marL="593821" indent="-296911" lvl="1">
              <a:lnSpc>
                <a:spcPts val="3575"/>
              </a:lnSpc>
              <a:buFont typeface="Arial"/>
              <a:buChar char="•"/>
            </a:pPr>
            <a:r>
              <a:rPr lang="en-US" b="true" sz="2750" spc="13">
                <a:solidFill>
                  <a:srgbClr val="2B2C30"/>
                </a:solidFill>
                <a:latin typeface="Playfair Display Bold"/>
                <a:ea typeface="Playfair Display Bold"/>
                <a:cs typeface="Playfair Display Bold"/>
                <a:sym typeface="Playfair Display Bold"/>
              </a:rPr>
              <a:t>Key Activities:</a:t>
            </a:r>
          </a:p>
          <a:p>
            <a:pPr algn="l" marL="1187642" indent="-395881" lvl="2">
              <a:lnSpc>
                <a:spcPts val="3575"/>
              </a:lnSpc>
              <a:buFont typeface="Arial"/>
              <a:buChar char="⚬"/>
            </a:pPr>
            <a:r>
              <a:rPr lang="en-US" sz="2750" spc="13" u="sng">
                <a:solidFill>
                  <a:srgbClr val="2B2C30"/>
                </a:solidFill>
                <a:latin typeface="Playfair Display"/>
                <a:ea typeface="Playfair Display"/>
                <a:cs typeface="Playfair Display"/>
                <a:sym typeface="Playfair Display"/>
              </a:rPr>
              <a:t>Dataset Loading:</a:t>
            </a:r>
            <a:r>
              <a:rPr lang="en-US" sz="2750" spc="13">
                <a:solidFill>
                  <a:srgbClr val="2B2C30"/>
                </a:solidFill>
                <a:latin typeface="Playfair Display"/>
                <a:ea typeface="Playfair Display"/>
                <a:cs typeface="Playfair Display"/>
                <a:sym typeface="Playfair Display"/>
              </a:rPr>
              <a:t> Reading the image files from storage and associating them with their correct class labels.</a:t>
            </a:r>
          </a:p>
          <a:p>
            <a:pPr algn="l" marL="1187642" indent="-395881" lvl="2">
              <a:lnSpc>
                <a:spcPts val="3575"/>
              </a:lnSpc>
              <a:buFont typeface="Arial"/>
              <a:buChar char="⚬"/>
            </a:pPr>
            <a:r>
              <a:rPr lang="en-US" sz="2750" spc="13" u="sng">
                <a:solidFill>
                  <a:srgbClr val="2B2C30"/>
                </a:solidFill>
                <a:latin typeface="Playfair Display"/>
                <a:ea typeface="Playfair Display"/>
                <a:cs typeface="Playfair Display"/>
                <a:sym typeface="Playfair Display"/>
              </a:rPr>
              <a:t>Train, Validation, Test Split</a:t>
            </a:r>
            <a:r>
              <a:rPr lang="en-US" sz="2750" spc="13">
                <a:solidFill>
                  <a:srgbClr val="2B2C30"/>
                </a:solidFill>
                <a:latin typeface="Playfair Display"/>
                <a:ea typeface="Playfair Display"/>
                <a:cs typeface="Playfair Display"/>
                <a:sym typeface="Playfair Display"/>
              </a:rPr>
              <a:t>: Dividing the dataset into three distinct subsets:</a:t>
            </a:r>
          </a:p>
          <a:p>
            <a:pPr algn="l" marL="1781463" indent="-445366" lvl="3">
              <a:lnSpc>
                <a:spcPts val="3575"/>
              </a:lnSpc>
              <a:buFont typeface="Arial"/>
              <a:buChar char="￭"/>
            </a:pPr>
            <a:r>
              <a:rPr lang="en-US" sz="2750" i="true" spc="13" u="sng">
                <a:solidFill>
                  <a:srgbClr val="2B2C30"/>
                </a:solidFill>
                <a:latin typeface="Playfair Display Italics"/>
                <a:ea typeface="Playfair Display Italics"/>
                <a:cs typeface="Playfair Display Italics"/>
                <a:sym typeface="Playfair Display Italics"/>
              </a:rPr>
              <a:t>Training Set:</a:t>
            </a:r>
            <a:r>
              <a:rPr lang="en-US" sz="2750" spc="13">
                <a:solidFill>
                  <a:srgbClr val="2B2C30"/>
                </a:solidFill>
                <a:latin typeface="Playfair Display"/>
                <a:ea typeface="Playfair Display"/>
                <a:cs typeface="Playfair Display"/>
                <a:sym typeface="Playfair Display"/>
              </a:rPr>
              <a:t> Used to train the model's parameters.</a:t>
            </a:r>
          </a:p>
          <a:p>
            <a:pPr algn="l" marL="1781463" indent="-445366" lvl="3">
              <a:lnSpc>
                <a:spcPts val="3575"/>
              </a:lnSpc>
              <a:buFont typeface="Arial"/>
              <a:buChar char="￭"/>
            </a:pPr>
            <a:r>
              <a:rPr lang="en-US" sz="2750" i="true" spc="13" u="sng">
                <a:solidFill>
                  <a:srgbClr val="2B2C30"/>
                </a:solidFill>
                <a:latin typeface="Playfair Display Italics"/>
                <a:ea typeface="Playfair Display Italics"/>
                <a:cs typeface="Playfair Display Italics"/>
                <a:sym typeface="Playfair Display Italics"/>
              </a:rPr>
              <a:t>Validation Set:</a:t>
            </a:r>
            <a:r>
              <a:rPr lang="en-US" sz="2750" spc="13">
                <a:solidFill>
                  <a:srgbClr val="2B2C30"/>
                </a:solidFill>
                <a:latin typeface="Playfair Display"/>
                <a:ea typeface="Playfair Display"/>
                <a:cs typeface="Playfair Display"/>
                <a:sym typeface="Playfair Display"/>
              </a:rPr>
              <a:t> Used during</a:t>
            </a:r>
            <a:r>
              <a:rPr lang="en-US" sz="2750" spc="13">
                <a:solidFill>
                  <a:srgbClr val="2B2C30"/>
                </a:solidFill>
                <a:latin typeface="Playfair Display"/>
                <a:ea typeface="Playfair Display"/>
                <a:cs typeface="Playfair Display"/>
                <a:sym typeface="Playfair Display"/>
              </a:rPr>
              <a:t> training t</a:t>
            </a:r>
            <a:r>
              <a:rPr lang="en-US" sz="2750" spc="13">
                <a:solidFill>
                  <a:srgbClr val="2B2C30"/>
                </a:solidFill>
                <a:latin typeface="Playfair Display"/>
                <a:ea typeface="Playfair Display"/>
                <a:cs typeface="Playfair Display"/>
                <a:sym typeface="Playfair Display"/>
              </a:rPr>
              <a:t>o tune hyperparame</a:t>
            </a:r>
            <a:r>
              <a:rPr lang="en-US" sz="2750" spc="13">
                <a:solidFill>
                  <a:srgbClr val="2B2C30"/>
                </a:solidFill>
                <a:latin typeface="Playfair Display"/>
                <a:ea typeface="Playfair Display"/>
                <a:cs typeface="Playfair Display"/>
                <a:sym typeface="Playfair Display"/>
              </a:rPr>
              <a:t>ters and</a:t>
            </a:r>
            <a:r>
              <a:rPr lang="en-US" sz="2750" spc="13">
                <a:solidFill>
                  <a:srgbClr val="2B2C30"/>
                </a:solidFill>
                <a:latin typeface="Playfair Display"/>
                <a:ea typeface="Playfair Display"/>
                <a:cs typeface="Playfair Display"/>
                <a:sym typeface="Playfair Display"/>
              </a:rPr>
              <a:t> </a:t>
            </a:r>
            <a:r>
              <a:rPr lang="en-US" sz="2750" spc="13">
                <a:solidFill>
                  <a:srgbClr val="2B2C30"/>
                </a:solidFill>
                <a:latin typeface="Playfair Display"/>
                <a:ea typeface="Playfair Display"/>
                <a:cs typeface="Playfair Display"/>
                <a:sym typeface="Playfair Display"/>
              </a:rPr>
              <a:t>monitor for overfitting.</a:t>
            </a:r>
          </a:p>
          <a:p>
            <a:pPr algn="l" marL="1781463" indent="-445366" lvl="3">
              <a:lnSpc>
                <a:spcPts val="3575"/>
              </a:lnSpc>
              <a:buFont typeface="Arial"/>
              <a:buChar char="￭"/>
            </a:pPr>
            <a:r>
              <a:rPr lang="en-US" sz="2750" i="true" spc="13" u="sng">
                <a:solidFill>
                  <a:srgbClr val="2B2C30"/>
                </a:solidFill>
                <a:latin typeface="Playfair Display Italics"/>
                <a:ea typeface="Playfair Display Italics"/>
                <a:cs typeface="Playfair Display Italics"/>
                <a:sym typeface="Playfair Display Italics"/>
              </a:rPr>
              <a:t>Test Set:</a:t>
            </a:r>
            <a:r>
              <a:rPr lang="en-US" sz="2750" spc="13">
                <a:solidFill>
                  <a:srgbClr val="2B2C30"/>
                </a:solidFill>
                <a:latin typeface="Playfair Display"/>
                <a:ea typeface="Playfair Display"/>
                <a:cs typeface="Playfair Display"/>
                <a:sym typeface="Playfair Display"/>
              </a:rPr>
              <a:t> A he</a:t>
            </a:r>
            <a:r>
              <a:rPr lang="en-US" sz="2750" spc="13">
                <a:solidFill>
                  <a:srgbClr val="2B2C30"/>
                </a:solidFill>
                <a:latin typeface="Playfair Display"/>
                <a:ea typeface="Playfair Display"/>
                <a:cs typeface="Playfair Display"/>
                <a:sym typeface="Playfair Display"/>
              </a:rPr>
              <a:t>ld out set u</a:t>
            </a:r>
            <a:r>
              <a:rPr lang="en-US" sz="2750" spc="13">
                <a:solidFill>
                  <a:srgbClr val="2B2C30"/>
                </a:solidFill>
                <a:latin typeface="Playfair Display"/>
                <a:ea typeface="Playfair Display"/>
                <a:cs typeface="Playfair Display"/>
                <a:sym typeface="Playfair Display"/>
              </a:rPr>
              <a:t>sed only once for the final, unbi</a:t>
            </a:r>
            <a:r>
              <a:rPr lang="en-US" sz="2750" spc="13">
                <a:solidFill>
                  <a:srgbClr val="2B2C30"/>
                </a:solidFill>
                <a:latin typeface="Playfair Display"/>
                <a:ea typeface="Playfair Display"/>
                <a:cs typeface="Playfair Display"/>
                <a:sym typeface="Playfair Display"/>
              </a:rPr>
              <a:t>ased evaluation of model p</a:t>
            </a:r>
            <a:r>
              <a:rPr lang="en-US" sz="2750" spc="13">
                <a:solidFill>
                  <a:srgbClr val="2B2C30"/>
                </a:solidFill>
                <a:latin typeface="Playfair Display"/>
                <a:ea typeface="Playfair Display"/>
                <a:cs typeface="Playfair Display"/>
                <a:sym typeface="Playfair Display"/>
              </a:rPr>
              <a:t>erformance.</a:t>
            </a:r>
          </a:p>
          <a:p>
            <a:pPr algn="l">
              <a:lnSpc>
                <a:spcPts val="3575"/>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MODULE WISE DESCRIPTION</a:t>
            </a:r>
          </a:p>
        </p:txBody>
      </p:sp>
      <p:sp>
        <p:nvSpPr>
          <p:cNvPr name="AutoShape 3" id="3"/>
          <p:cNvSpPr/>
          <p:nvPr/>
        </p:nvSpPr>
        <p:spPr>
          <a:xfrm flipV="true">
            <a:off x="1028711" y="1598836"/>
            <a:ext cx="16230594" cy="38509"/>
          </a:xfrm>
          <a:prstGeom prst="line">
            <a:avLst/>
          </a:prstGeom>
          <a:ln cap="flat" w="9525">
            <a:solidFill>
              <a:srgbClr val="2B2C30"/>
            </a:solidFill>
            <a:prstDash val="solid"/>
            <a:headEnd type="none" len="sm" w="sm"/>
            <a:tailEnd type="none" len="sm" w="sm"/>
          </a:ln>
        </p:spPr>
      </p:sp>
      <p:grpSp>
        <p:nvGrpSpPr>
          <p:cNvPr name="Group 4" id="4"/>
          <p:cNvGrpSpPr/>
          <p:nvPr/>
        </p:nvGrpSpPr>
        <p:grpSpPr>
          <a:xfrm rot="0">
            <a:off x="1161784" y="1747521"/>
            <a:ext cx="6923262" cy="8082807"/>
            <a:chOff x="0" y="0"/>
            <a:chExt cx="9231017" cy="10777076"/>
          </a:xfrm>
        </p:grpSpPr>
        <p:grpSp>
          <p:nvGrpSpPr>
            <p:cNvPr name="Group 5" id="5"/>
            <p:cNvGrpSpPr/>
            <p:nvPr/>
          </p:nvGrpSpPr>
          <p:grpSpPr>
            <a:xfrm rot="0">
              <a:off x="0" y="0"/>
              <a:ext cx="9231017" cy="10777076"/>
              <a:chOff x="0" y="0"/>
              <a:chExt cx="2105775" cy="2458461"/>
            </a:xfrm>
          </p:grpSpPr>
          <p:sp>
            <p:nvSpPr>
              <p:cNvPr name="Freeform 6" id="6"/>
              <p:cNvSpPr/>
              <p:nvPr/>
            </p:nvSpPr>
            <p:spPr>
              <a:xfrm flipH="false" flipV="false" rot="0">
                <a:off x="0" y="0"/>
                <a:ext cx="2105775" cy="2458461"/>
              </a:xfrm>
              <a:custGeom>
                <a:avLst/>
                <a:gdLst/>
                <a:ahLst/>
                <a:cxnLst/>
                <a:rect r="r" b="b" t="t" l="l"/>
                <a:pathLst>
                  <a:path h="2458461" w="2105775">
                    <a:moveTo>
                      <a:pt x="0" y="0"/>
                    </a:moveTo>
                    <a:lnTo>
                      <a:pt x="2105775" y="0"/>
                    </a:lnTo>
                    <a:lnTo>
                      <a:pt x="2105775" y="2458461"/>
                    </a:lnTo>
                    <a:lnTo>
                      <a:pt x="0" y="2458461"/>
                    </a:lnTo>
                    <a:close/>
                  </a:path>
                </a:pathLst>
              </a:custGeom>
              <a:ln w="9525" cap="sq">
                <a:solidFill>
                  <a:srgbClr val="2B2C30"/>
                </a:solidFill>
                <a:prstDash val="solid"/>
                <a:miter/>
              </a:ln>
            </p:spPr>
          </p:sp>
          <p:sp>
            <p:nvSpPr>
              <p:cNvPr name="TextBox 7" id="7"/>
              <p:cNvSpPr txBox="true"/>
              <p:nvPr/>
            </p:nvSpPr>
            <p:spPr>
              <a:xfrm>
                <a:off x="0" y="-28575"/>
                <a:ext cx="2105775" cy="2487036"/>
              </a:xfrm>
              <a:prstGeom prst="rect">
                <a:avLst/>
              </a:prstGeom>
            </p:spPr>
            <p:txBody>
              <a:bodyPr anchor="ctr" rtlCol="false" tIns="68580" lIns="68580" bIns="68580" rIns="68580"/>
              <a:lstStyle/>
              <a:p>
                <a:pPr algn="ctr">
                  <a:lnSpc>
                    <a:spcPts val="1889"/>
                  </a:lnSpc>
                </a:pPr>
              </a:p>
            </p:txBody>
          </p:sp>
        </p:grpSp>
        <p:sp>
          <p:nvSpPr>
            <p:cNvPr name="Freeform 8" id="8"/>
            <p:cNvSpPr/>
            <p:nvPr/>
          </p:nvSpPr>
          <p:spPr>
            <a:xfrm flipH="false" flipV="false" rot="0">
              <a:off x="560981" y="480308"/>
              <a:ext cx="8109054" cy="9816460"/>
            </a:xfrm>
            <a:custGeom>
              <a:avLst/>
              <a:gdLst/>
              <a:ahLst/>
              <a:cxnLst/>
              <a:rect r="r" b="b" t="t" l="l"/>
              <a:pathLst>
                <a:path h="9816460" w="8109054">
                  <a:moveTo>
                    <a:pt x="0" y="0"/>
                  </a:moveTo>
                  <a:lnTo>
                    <a:pt x="8109054" y="0"/>
                  </a:lnTo>
                  <a:lnTo>
                    <a:pt x="8109054" y="9816460"/>
                  </a:lnTo>
                  <a:lnTo>
                    <a:pt x="0" y="9816460"/>
                  </a:lnTo>
                  <a:lnTo>
                    <a:pt x="0" y="0"/>
                  </a:lnTo>
                  <a:close/>
                </a:path>
              </a:pathLst>
            </a:custGeom>
            <a:blipFill>
              <a:blip r:embed="rId2"/>
              <a:stretch>
                <a:fillRect l="-1313" t="0" r="0" b="0"/>
              </a:stretch>
            </a:blipFill>
          </p:spPr>
        </p:sp>
      </p:grpSp>
      <p:sp>
        <p:nvSpPr>
          <p:cNvPr name="Freeform 9" id="9"/>
          <p:cNvSpPr/>
          <p:nvPr/>
        </p:nvSpPr>
        <p:spPr>
          <a:xfrm flipH="false" flipV="false" rot="0">
            <a:off x="15166034" y="8940231"/>
            <a:ext cx="2994175" cy="1556878"/>
          </a:xfrm>
          <a:custGeom>
            <a:avLst/>
            <a:gdLst/>
            <a:ahLst/>
            <a:cxnLst/>
            <a:rect r="r" b="b" t="t" l="l"/>
            <a:pathLst>
              <a:path h="1556878" w="2994175">
                <a:moveTo>
                  <a:pt x="0" y="0"/>
                </a:moveTo>
                <a:lnTo>
                  <a:pt x="2994176" y="0"/>
                </a:lnTo>
                <a:lnTo>
                  <a:pt x="2994176" y="1556878"/>
                </a:lnTo>
                <a:lnTo>
                  <a:pt x="0" y="1556878"/>
                </a:lnTo>
                <a:lnTo>
                  <a:pt x="0" y="0"/>
                </a:lnTo>
                <a:close/>
              </a:path>
            </a:pathLst>
          </a:custGeom>
          <a:blipFill>
            <a:blip r:embed="rId3"/>
            <a:stretch>
              <a:fillRect l="-16444" t="-90820" r="-20598" b="-72738"/>
            </a:stretch>
          </a:blipFill>
        </p:spPr>
      </p:sp>
      <p:sp>
        <p:nvSpPr>
          <p:cNvPr name="TextBox 10" id="10"/>
          <p:cNvSpPr txBox="true"/>
          <p:nvPr/>
        </p:nvSpPr>
        <p:spPr>
          <a:xfrm rot="0">
            <a:off x="8258914" y="1718946"/>
            <a:ext cx="8978557" cy="7618724"/>
          </a:xfrm>
          <a:prstGeom prst="rect">
            <a:avLst/>
          </a:prstGeom>
        </p:spPr>
        <p:txBody>
          <a:bodyPr anchor="t" rtlCol="false" tIns="0" lIns="0" bIns="0" rIns="0">
            <a:spAutoFit/>
          </a:bodyPr>
          <a:lstStyle/>
          <a:p>
            <a:pPr algn="l">
              <a:lnSpc>
                <a:spcPts val="3055"/>
              </a:lnSpc>
            </a:pPr>
            <a:r>
              <a:rPr lang="en-US" b="true" sz="2350" spc="11" u="sng">
                <a:solidFill>
                  <a:srgbClr val="2B2C30"/>
                </a:solidFill>
                <a:latin typeface="Playfair Display Bold"/>
                <a:ea typeface="Playfair Display Bold"/>
                <a:cs typeface="Playfair Display Bold"/>
                <a:sym typeface="Playfair Display Bold"/>
              </a:rPr>
              <a:t>3. Model Development</a:t>
            </a:r>
          </a:p>
          <a:p>
            <a:pPr algn="l">
              <a:lnSpc>
                <a:spcPts val="3055"/>
              </a:lnSpc>
            </a:pPr>
            <a:r>
              <a:rPr lang="en-US" sz="2350" spc="11">
                <a:solidFill>
                  <a:srgbClr val="2B2C30"/>
                </a:solidFill>
                <a:latin typeface="Playfair Display"/>
                <a:ea typeface="Playfair Display"/>
                <a:cs typeface="Playfair Display"/>
                <a:sym typeface="Playfair Display"/>
              </a:rPr>
              <a:t>This is the core section where four distinct modeling strategies are implemented in parallel.</a:t>
            </a:r>
          </a:p>
          <a:p>
            <a:pPr algn="l">
              <a:lnSpc>
                <a:spcPts val="3055"/>
              </a:lnSpc>
            </a:pPr>
            <a:r>
              <a:rPr lang="en-US" sz="2350" spc="11" b="true">
                <a:solidFill>
                  <a:srgbClr val="2B2C30"/>
                </a:solidFill>
                <a:latin typeface="Playfair Display Bold"/>
                <a:ea typeface="Playfair Display Bold"/>
                <a:cs typeface="Playfair Display Bold"/>
                <a:sym typeface="Playfair Display Bold"/>
              </a:rPr>
              <a:t>A. Custom CNN</a:t>
            </a:r>
          </a:p>
          <a:p>
            <a:pPr algn="l" marL="507463" indent="-253732" lvl="1">
              <a:lnSpc>
                <a:spcPts val="3055"/>
              </a:lnSpc>
              <a:buFont typeface="Arial"/>
              <a:buChar char="•"/>
            </a:pPr>
            <a:r>
              <a:rPr lang="en-US" b="true" sz="2350" spc="11">
                <a:solidFill>
                  <a:srgbClr val="2B2C30"/>
                </a:solidFill>
                <a:latin typeface="Playfair Display Bold"/>
                <a:ea typeface="Playfair Display Bold"/>
                <a:cs typeface="Playfair Display Bold"/>
                <a:sym typeface="Playfair Display Bold"/>
              </a:rPr>
              <a:t>Purpose:</a:t>
            </a:r>
            <a:r>
              <a:rPr lang="en-US" sz="2350" spc="11">
                <a:solidFill>
                  <a:srgbClr val="2B2C30"/>
                </a:solidFill>
                <a:latin typeface="Playfair Display"/>
                <a:ea typeface="Playfair Display"/>
                <a:cs typeface="Playfair Display"/>
                <a:sym typeface="Playfair Display"/>
              </a:rPr>
              <a:t> To build and train a convolutional neural network from scratch, tailored specifically for this task.</a:t>
            </a:r>
          </a:p>
          <a:p>
            <a:pPr algn="l" marL="507463" indent="-253732" lvl="1">
              <a:lnSpc>
                <a:spcPts val="3055"/>
              </a:lnSpc>
              <a:buFont typeface="Arial"/>
              <a:buChar char="•"/>
            </a:pPr>
            <a:r>
              <a:rPr lang="en-US" b="true" sz="2350" spc="11">
                <a:solidFill>
                  <a:srgbClr val="2B2C30"/>
                </a:solidFill>
                <a:latin typeface="Playfair Display Bold"/>
                <a:ea typeface="Playfair Display Bold"/>
                <a:cs typeface="Playfair Display Bold"/>
                <a:sym typeface="Playfair Display Bold"/>
              </a:rPr>
              <a:t>Workflow:</a:t>
            </a:r>
          </a:p>
          <a:p>
            <a:pPr algn="l" marL="1014926" indent="-338309" lvl="2">
              <a:lnSpc>
                <a:spcPts val="3055"/>
              </a:lnSpc>
              <a:buAutoNum type="alphaLcPeriod" startAt="1"/>
            </a:pPr>
            <a:r>
              <a:rPr lang="en-US" b="true" sz="2350" spc="11">
                <a:solidFill>
                  <a:srgbClr val="2B2C30"/>
                </a:solidFill>
                <a:latin typeface="Playfair Display Bold"/>
                <a:ea typeface="Playfair Display Bold"/>
                <a:cs typeface="Playfair Display Bold"/>
                <a:sym typeface="Playfair Display Bold"/>
              </a:rPr>
              <a:t>Define CNN Architecture:</a:t>
            </a:r>
            <a:r>
              <a:rPr lang="en-US" sz="2350" spc="11">
                <a:solidFill>
                  <a:srgbClr val="2B2C30"/>
                </a:solidFill>
                <a:latin typeface="Playfair Display"/>
                <a:ea typeface="Playfair Display"/>
                <a:cs typeface="Playfair Display"/>
                <a:sym typeface="Playfair Display"/>
              </a:rPr>
              <a:t> Manually design the network layers (convolutional, pooling, dropout, fully connected).</a:t>
            </a:r>
          </a:p>
          <a:p>
            <a:pPr algn="l" marL="1014926" indent="-338309" lvl="2">
              <a:lnSpc>
                <a:spcPts val="3055"/>
              </a:lnSpc>
              <a:buAutoNum type="alphaLcPeriod" startAt="1"/>
            </a:pPr>
            <a:r>
              <a:rPr lang="en-US" b="true" sz="2350" spc="11">
                <a:solidFill>
                  <a:srgbClr val="2B2C30"/>
                </a:solidFill>
                <a:latin typeface="Playfair Display Bold"/>
                <a:ea typeface="Playfair Display Bold"/>
                <a:cs typeface="Playfair Display Bold"/>
                <a:sym typeface="Playfair Display Bold"/>
              </a:rPr>
              <a:t>Compile CNN Model:</a:t>
            </a:r>
            <a:r>
              <a:rPr lang="en-US" sz="2350" spc="11">
                <a:solidFill>
                  <a:srgbClr val="2B2C30"/>
                </a:solidFill>
                <a:latin typeface="Playfair Display"/>
                <a:ea typeface="Playfair Display"/>
                <a:cs typeface="Playfair Display"/>
                <a:sym typeface="Playfair Display"/>
              </a:rPr>
              <a:t> Configure the model with an optimizer (e.g., Adam), a loss function (e.g., categorical cross entropy), and evaluation metrics (e.g., accuracy).</a:t>
            </a:r>
          </a:p>
          <a:p>
            <a:pPr algn="l" marL="1014926" indent="-338309" lvl="2">
              <a:lnSpc>
                <a:spcPts val="3055"/>
              </a:lnSpc>
              <a:buAutoNum type="alphaLcPeriod" startAt="1"/>
            </a:pPr>
            <a:r>
              <a:rPr lang="en-US" b="true" sz="2350" spc="11">
                <a:solidFill>
                  <a:srgbClr val="2B2C30"/>
                </a:solidFill>
                <a:latin typeface="Playfair Display Bold"/>
                <a:ea typeface="Playfair Display Bold"/>
                <a:cs typeface="Playfair Display Bold"/>
                <a:sym typeface="Playfair Display Bold"/>
              </a:rPr>
              <a:t>Train CNN Model:</a:t>
            </a:r>
            <a:r>
              <a:rPr lang="en-US" sz="2350" spc="11">
                <a:solidFill>
                  <a:srgbClr val="2B2C30"/>
                </a:solidFill>
                <a:latin typeface="Playfair Display"/>
                <a:ea typeface="Playfair Display"/>
                <a:cs typeface="Playfair Display"/>
                <a:sym typeface="Playfair Display"/>
              </a:rPr>
              <a:t> Fit the model to the training data over multiple epochs.</a:t>
            </a:r>
          </a:p>
          <a:p>
            <a:pPr algn="l" marL="1014926" indent="-338309" lvl="2">
              <a:lnSpc>
                <a:spcPts val="3055"/>
              </a:lnSpc>
              <a:buAutoNum type="alphaLcPeriod" startAt="1"/>
            </a:pPr>
            <a:r>
              <a:rPr lang="en-US" b="true" sz="2350" spc="11">
                <a:solidFill>
                  <a:srgbClr val="2B2C30"/>
                </a:solidFill>
                <a:latin typeface="Playfair Display Bold"/>
                <a:ea typeface="Playfair Display Bold"/>
                <a:cs typeface="Playfair Display Bold"/>
                <a:sym typeface="Playfair Display Bold"/>
              </a:rPr>
              <a:t>Save CNN History and Plots:</a:t>
            </a:r>
            <a:r>
              <a:rPr lang="en-US" sz="2350" spc="11">
                <a:solidFill>
                  <a:srgbClr val="2B2C30"/>
                </a:solidFill>
                <a:latin typeface="Playfair Display"/>
                <a:ea typeface="Playfair Display"/>
                <a:cs typeface="Playfair Display"/>
                <a:sym typeface="Playfair Display"/>
              </a:rPr>
              <a:t> Record training/validation metrics and generate graphs (like accuracy/loss curves) for analysis.</a:t>
            </a:r>
          </a:p>
          <a:p>
            <a:pPr algn="l" marL="1014926" indent="-338309" lvl="2">
              <a:lnSpc>
                <a:spcPts val="3055"/>
              </a:lnSpc>
              <a:buAutoNum type="alphaLcPeriod" startAt="1"/>
            </a:pPr>
            <a:r>
              <a:rPr lang="en-US" b="true" sz="2350" spc="11">
                <a:solidFill>
                  <a:srgbClr val="2B2C30"/>
                </a:solidFill>
                <a:latin typeface="Playfair Display Bold"/>
                <a:ea typeface="Playfair Display Bold"/>
                <a:cs typeface="Playfair Display Bold"/>
                <a:sym typeface="Playfair Display Bold"/>
              </a:rPr>
              <a:t>Evaluate CNN Model:</a:t>
            </a:r>
            <a:r>
              <a:rPr lang="en-US" sz="2350" spc="11">
                <a:solidFill>
                  <a:srgbClr val="2B2C30"/>
                </a:solidFill>
                <a:latin typeface="Playfair Display"/>
                <a:ea typeface="Playfair Display"/>
                <a:cs typeface="Playfair Display"/>
                <a:sym typeface="Playfair Display"/>
              </a:rPr>
              <a:t> Test the final trained model on the unseen test set.</a:t>
            </a:r>
          </a:p>
          <a:p>
            <a:pPr algn="l">
              <a:lnSpc>
                <a:spcPts val="3055"/>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MODULE WISE DESCRIPTION</a:t>
            </a:r>
          </a:p>
        </p:txBody>
      </p:sp>
      <p:sp>
        <p:nvSpPr>
          <p:cNvPr name="AutoShape 3" id="3"/>
          <p:cNvSpPr/>
          <p:nvPr/>
        </p:nvSpPr>
        <p:spPr>
          <a:xfrm flipV="true">
            <a:off x="1028711" y="1598836"/>
            <a:ext cx="16230594" cy="38509"/>
          </a:xfrm>
          <a:prstGeom prst="line">
            <a:avLst/>
          </a:prstGeom>
          <a:ln cap="flat" w="9525">
            <a:solidFill>
              <a:srgbClr val="2B2C30"/>
            </a:solidFill>
            <a:prstDash val="solid"/>
            <a:headEnd type="none" len="sm" w="sm"/>
            <a:tailEnd type="none" len="sm" w="sm"/>
          </a:ln>
        </p:spPr>
      </p:sp>
      <p:grpSp>
        <p:nvGrpSpPr>
          <p:cNvPr name="Group 4" id="4"/>
          <p:cNvGrpSpPr/>
          <p:nvPr/>
        </p:nvGrpSpPr>
        <p:grpSpPr>
          <a:xfrm rot="0">
            <a:off x="1161784" y="1747521"/>
            <a:ext cx="6923262" cy="8082807"/>
            <a:chOff x="0" y="0"/>
            <a:chExt cx="9231017" cy="10777076"/>
          </a:xfrm>
        </p:grpSpPr>
        <p:grpSp>
          <p:nvGrpSpPr>
            <p:cNvPr name="Group 5" id="5"/>
            <p:cNvGrpSpPr/>
            <p:nvPr/>
          </p:nvGrpSpPr>
          <p:grpSpPr>
            <a:xfrm rot="0">
              <a:off x="0" y="0"/>
              <a:ext cx="9231017" cy="10777076"/>
              <a:chOff x="0" y="0"/>
              <a:chExt cx="2105775" cy="2458461"/>
            </a:xfrm>
          </p:grpSpPr>
          <p:sp>
            <p:nvSpPr>
              <p:cNvPr name="Freeform 6" id="6"/>
              <p:cNvSpPr/>
              <p:nvPr/>
            </p:nvSpPr>
            <p:spPr>
              <a:xfrm flipH="false" flipV="false" rot="0">
                <a:off x="0" y="0"/>
                <a:ext cx="2105775" cy="2458461"/>
              </a:xfrm>
              <a:custGeom>
                <a:avLst/>
                <a:gdLst/>
                <a:ahLst/>
                <a:cxnLst/>
                <a:rect r="r" b="b" t="t" l="l"/>
                <a:pathLst>
                  <a:path h="2458461" w="2105775">
                    <a:moveTo>
                      <a:pt x="0" y="0"/>
                    </a:moveTo>
                    <a:lnTo>
                      <a:pt x="2105775" y="0"/>
                    </a:lnTo>
                    <a:lnTo>
                      <a:pt x="2105775" y="2458461"/>
                    </a:lnTo>
                    <a:lnTo>
                      <a:pt x="0" y="2458461"/>
                    </a:lnTo>
                    <a:close/>
                  </a:path>
                </a:pathLst>
              </a:custGeom>
              <a:ln w="9525" cap="sq">
                <a:solidFill>
                  <a:srgbClr val="2B2C30"/>
                </a:solidFill>
                <a:prstDash val="solid"/>
                <a:miter/>
              </a:ln>
            </p:spPr>
          </p:sp>
          <p:sp>
            <p:nvSpPr>
              <p:cNvPr name="TextBox 7" id="7"/>
              <p:cNvSpPr txBox="true"/>
              <p:nvPr/>
            </p:nvSpPr>
            <p:spPr>
              <a:xfrm>
                <a:off x="0" y="-28575"/>
                <a:ext cx="2105775" cy="2487036"/>
              </a:xfrm>
              <a:prstGeom prst="rect">
                <a:avLst/>
              </a:prstGeom>
            </p:spPr>
            <p:txBody>
              <a:bodyPr anchor="ctr" rtlCol="false" tIns="68580" lIns="68580" bIns="68580" rIns="68580"/>
              <a:lstStyle/>
              <a:p>
                <a:pPr algn="ctr">
                  <a:lnSpc>
                    <a:spcPts val="1889"/>
                  </a:lnSpc>
                </a:pPr>
              </a:p>
            </p:txBody>
          </p:sp>
        </p:grpSp>
        <p:sp>
          <p:nvSpPr>
            <p:cNvPr name="Freeform 8" id="8"/>
            <p:cNvSpPr/>
            <p:nvPr/>
          </p:nvSpPr>
          <p:spPr>
            <a:xfrm flipH="false" flipV="false" rot="0">
              <a:off x="560981" y="480308"/>
              <a:ext cx="8109054" cy="9816460"/>
            </a:xfrm>
            <a:custGeom>
              <a:avLst/>
              <a:gdLst/>
              <a:ahLst/>
              <a:cxnLst/>
              <a:rect r="r" b="b" t="t" l="l"/>
              <a:pathLst>
                <a:path h="9816460" w="8109054">
                  <a:moveTo>
                    <a:pt x="0" y="0"/>
                  </a:moveTo>
                  <a:lnTo>
                    <a:pt x="8109054" y="0"/>
                  </a:lnTo>
                  <a:lnTo>
                    <a:pt x="8109054" y="9816460"/>
                  </a:lnTo>
                  <a:lnTo>
                    <a:pt x="0" y="9816460"/>
                  </a:lnTo>
                  <a:lnTo>
                    <a:pt x="0" y="0"/>
                  </a:lnTo>
                  <a:close/>
                </a:path>
              </a:pathLst>
            </a:custGeom>
            <a:blipFill>
              <a:blip r:embed="rId2"/>
              <a:stretch>
                <a:fillRect l="-1313" t="0" r="0" b="0"/>
              </a:stretch>
            </a:blipFill>
          </p:spPr>
        </p:sp>
      </p:grpSp>
      <p:sp>
        <p:nvSpPr>
          <p:cNvPr name="Freeform 9" id="9"/>
          <p:cNvSpPr/>
          <p:nvPr/>
        </p:nvSpPr>
        <p:spPr>
          <a:xfrm flipH="false" flipV="false" rot="0">
            <a:off x="15166034" y="8940231"/>
            <a:ext cx="2994175" cy="1556878"/>
          </a:xfrm>
          <a:custGeom>
            <a:avLst/>
            <a:gdLst/>
            <a:ahLst/>
            <a:cxnLst/>
            <a:rect r="r" b="b" t="t" l="l"/>
            <a:pathLst>
              <a:path h="1556878" w="2994175">
                <a:moveTo>
                  <a:pt x="0" y="0"/>
                </a:moveTo>
                <a:lnTo>
                  <a:pt x="2994176" y="0"/>
                </a:lnTo>
                <a:lnTo>
                  <a:pt x="2994176" y="1556878"/>
                </a:lnTo>
                <a:lnTo>
                  <a:pt x="0" y="1556878"/>
                </a:lnTo>
                <a:lnTo>
                  <a:pt x="0" y="0"/>
                </a:lnTo>
                <a:close/>
              </a:path>
            </a:pathLst>
          </a:custGeom>
          <a:blipFill>
            <a:blip r:embed="rId3"/>
            <a:stretch>
              <a:fillRect l="-16444" t="-90820" r="-20598" b="-72738"/>
            </a:stretch>
          </a:blipFill>
        </p:spPr>
      </p:sp>
      <p:sp>
        <p:nvSpPr>
          <p:cNvPr name="TextBox 10" id="10"/>
          <p:cNvSpPr txBox="true"/>
          <p:nvPr/>
        </p:nvSpPr>
        <p:spPr>
          <a:xfrm rot="0">
            <a:off x="8258914" y="1718946"/>
            <a:ext cx="8978557" cy="7237724"/>
          </a:xfrm>
          <a:prstGeom prst="rect">
            <a:avLst/>
          </a:prstGeom>
        </p:spPr>
        <p:txBody>
          <a:bodyPr anchor="t" rtlCol="false" tIns="0" lIns="0" bIns="0" rIns="0">
            <a:spAutoFit/>
          </a:bodyPr>
          <a:lstStyle/>
          <a:p>
            <a:pPr algn="l">
              <a:lnSpc>
                <a:spcPts val="3055"/>
              </a:lnSpc>
            </a:pPr>
            <a:r>
              <a:rPr lang="en-US" sz="2350" spc="11" b="true">
                <a:solidFill>
                  <a:srgbClr val="2B2C30"/>
                </a:solidFill>
                <a:latin typeface="Playfair Display Bold"/>
                <a:ea typeface="Playfair Display Bold"/>
                <a:cs typeface="Playfair Display Bold"/>
                <a:sym typeface="Playfair Display Bold"/>
              </a:rPr>
              <a:t>B. Transfer Learning Models</a:t>
            </a:r>
          </a:p>
          <a:p>
            <a:pPr algn="l" marL="507463" indent="-253732" lvl="1">
              <a:lnSpc>
                <a:spcPts val="3055"/>
              </a:lnSpc>
              <a:buFont typeface="Arial"/>
              <a:buChar char="•"/>
            </a:pPr>
            <a:r>
              <a:rPr lang="en-US" b="true" sz="2350" spc="11">
                <a:solidFill>
                  <a:srgbClr val="2B2C30"/>
                </a:solidFill>
                <a:latin typeface="Playfair Display Bold"/>
                <a:ea typeface="Playfair Display Bold"/>
                <a:cs typeface="Playfair Display Bold"/>
                <a:sym typeface="Playfair Display Bold"/>
              </a:rPr>
              <a:t>Purpose:</a:t>
            </a:r>
            <a:r>
              <a:rPr lang="en-US" sz="2350" spc="11">
                <a:solidFill>
                  <a:srgbClr val="2B2C30"/>
                </a:solidFill>
                <a:latin typeface="Playfair Display"/>
                <a:ea typeface="Playfair Display"/>
                <a:cs typeface="Playfair Display"/>
                <a:sym typeface="Playfair Display"/>
              </a:rPr>
              <a:t> To leverage powerful, pre trained models and adapt them for the lung disease classification task, saving time and computational resources.</a:t>
            </a:r>
          </a:p>
          <a:p>
            <a:pPr algn="l" marL="507463" indent="-253732" lvl="1">
              <a:lnSpc>
                <a:spcPts val="3055"/>
              </a:lnSpc>
              <a:buFont typeface="Arial"/>
              <a:buChar char="•"/>
            </a:pPr>
            <a:r>
              <a:rPr lang="en-US" b="true" sz="2350" spc="11">
                <a:solidFill>
                  <a:srgbClr val="2B2C30"/>
                </a:solidFill>
                <a:latin typeface="Playfair Display Bold"/>
                <a:ea typeface="Playfair Display Bold"/>
                <a:cs typeface="Playfair Display Bold"/>
                <a:sym typeface="Playfair Display Bold"/>
              </a:rPr>
              <a:t>Workflow:</a:t>
            </a:r>
          </a:p>
          <a:p>
            <a:pPr algn="l" marL="1014926" indent="-338309" lvl="2">
              <a:lnSpc>
                <a:spcPts val="3055"/>
              </a:lnSpc>
              <a:buAutoNum type="alphaLcPeriod" startAt="1"/>
            </a:pPr>
            <a:r>
              <a:rPr lang="en-US" b="true" sz="2350" spc="11">
                <a:solidFill>
                  <a:srgbClr val="2B2C30"/>
                </a:solidFill>
                <a:latin typeface="Playfair Display Bold"/>
                <a:ea typeface="Playfair Display Bold"/>
                <a:cs typeface="Playfair Display Bold"/>
                <a:sym typeface="Playfair Display Bold"/>
              </a:rPr>
              <a:t>Load Pre trained Models:</a:t>
            </a:r>
            <a:r>
              <a:rPr lang="en-US" sz="2350" spc="11">
                <a:solidFill>
                  <a:srgbClr val="2B2C30"/>
                </a:solidFill>
                <a:latin typeface="Playfair Display"/>
                <a:ea typeface="Playfair Display"/>
                <a:cs typeface="Playfair Display"/>
                <a:sym typeface="Playfair Display"/>
              </a:rPr>
              <a:t> Import established architectures (MobileNet, EfficientNet, ResNet.</a:t>
            </a:r>
          </a:p>
          <a:p>
            <a:pPr algn="l" marL="1014926" indent="-338309" lvl="2">
              <a:lnSpc>
                <a:spcPts val="3055"/>
              </a:lnSpc>
              <a:buAutoNum type="alphaLcPeriod" startAt="1"/>
            </a:pPr>
            <a:r>
              <a:rPr lang="en-US" b="true" sz="2350" spc="11">
                <a:solidFill>
                  <a:srgbClr val="2B2C30"/>
                </a:solidFill>
                <a:latin typeface="Playfair Display Bold"/>
                <a:ea typeface="Playfair Display Bold"/>
                <a:cs typeface="Playfair Display Bold"/>
                <a:sym typeface="Playfair Display Bold"/>
              </a:rPr>
              <a:t>Freeze Base Layers:</a:t>
            </a:r>
            <a:r>
              <a:rPr lang="en-US" sz="2350" spc="11">
                <a:solidFill>
                  <a:srgbClr val="2B2C30"/>
                </a:solidFill>
                <a:latin typeface="Playfair Display"/>
                <a:ea typeface="Playfair Display"/>
                <a:cs typeface="Playfair Display"/>
                <a:sym typeface="Playfair Display"/>
              </a:rPr>
              <a:t> Keep the early, feature extraction layers of the pre trained model frozen to retain their learned general image knowledge.</a:t>
            </a:r>
          </a:p>
          <a:p>
            <a:pPr algn="l" marL="1014926" indent="-338309" lvl="2">
              <a:lnSpc>
                <a:spcPts val="3055"/>
              </a:lnSpc>
              <a:buAutoNum type="alphaLcPeriod" startAt="1"/>
            </a:pPr>
            <a:r>
              <a:rPr lang="en-US" b="true" sz="2350" spc="11">
                <a:solidFill>
                  <a:srgbClr val="2B2C30"/>
                </a:solidFill>
                <a:latin typeface="Playfair Display Bold"/>
                <a:ea typeface="Playfair Display Bold"/>
                <a:cs typeface="Playfair Display Bold"/>
                <a:sym typeface="Playfair Display Bold"/>
              </a:rPr>
              <a:t>Add Custom Classification Head:</a:t>
            </a:r>
            <a:r>
              <a:rPr lang="en-US" sz="2350" spc="11">
                <a:solidFill>
                  <a:srgbClr val="2B2C30"/>
                </a:solidFill>
                <a:latin typeface="Playfair Display"/>
                <a:ea typeface="Playfair Display"/>
                <a:cs typeface="Playfair Display"/>
                <a:sym typeface="Playfair Display"/>
              </a:rPr>
              <a:t> Remove the original top classification layer and add new, trainable dense layers leading to a 4 class output.</a:t>
            </a:r>
          </a:p>
          <a:p>
            <a:pPr algn="l" marL="1014926" indent="-338309" lvl="2">
              <a:lnSpc>
                <a:spcPts val="3055"/>
              </a:lnSpc>
              <a:buAutoNum type="alphaLcPeriod" startAt="1"/>
            </a:pPr>
            <a:r>
              <a:rPr lang="en-US" b="true" sz="2350" spc="11">
                <a:solidFill>
                  <a:srgbClr val="2B2C30"/>
                </a:solidFill>
                <a:latin typeface="Playfair Display Bold"/>
                <a:ea typeface="Playfair Display Bold"/>
                <a:cs typeface="Playfair Display Bold"/>
                <a:sym typeface="Playfair Display Bold"/>
              </a:rPr>
              <a:t>Compile and Train TL Models:</a:t>
            </a:r>
            <a:r>
              <a:rPr lang="en-US" sz="2350" spc="11">
                <a:solidFill>
                  <a:srgbClr val="2B2C30"/>
                </a:solidFill>
                <a:latin typeface="Playfair Display"/>
                <a:ea typeface="Playfair Display"/>
                <a:cs typeface="Playfair Display"/>
                <a:sym typeface="Playfair Display"/>
              </a:rPr>
              <a:t> Compile the new hybrid model and train it, allowing only the new head  to learn from the medical images.</a:t>
            </a:r>
          </a:p>
          <a:p>
            <a:pPr algn="l" marL="1014926" indent="-338309" lvl="2">
              <a:lnSpc>
                <a:spcPts val="3055"/>
              </a:lnSpc>
              <a:buAutoNum type="alphaLcPeriod" startAt="1"/>
            </a:pPr>
            <a:r>
              <a:rPr lang="en-US" b="true" sz="2350" spc="11">
                <a:solidFill>
                  <a:srgbClr val="2B2C30"/>
                </a:solidFill>
                <a:latin typeface="Playfair Display Bold"/>
                <a:ea typeface="Playfair Display Bold"/>
                <a:cs typeface="Playfair Display Bold"/>
                <a:sym typeface="Playfair Display Bold"/>
              </a:rPr>
              <a:t>Evaluate TL Models:</a:t>
            </a:r>
            <a:r>
              <a:rPr lang="en-US" sz="2350" spc="11">
                <a:solidFill>
                  <a:srgbClr val="2B2C30"/>
                </a:solidFill>
                <a:latin typeface="Playfair Display"/>
                <a:ea typeface="Playfair Display"/>
                <a:cs typeface="Playfair Display"/>
                <a:sym typeface="Playfair Display"/>
              </a:rPr>
              <a:t> Assess the performance of each fine tuned model on the test set.</a:t>
            </a:r>
          </a:p>
          <a:p>
            <a:pPr algn="l">
              <a:lnSpc>
                <a:spcPts val="3055"/>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MODULE WISE DESCRIPTION</a:t>
            </a:r>
          </a:p>
        </p:txBody>
      </p:sp>
      <p:sp>
        <p:nvSpPr>
          <p:cNvPr name="AutoShape 3" id="3"/>
          <p:cNvSpPr/>
          <p:nvPr/>
        </p:nvSpPr>
        <p:spPr>
          <a:xfrm flipV="true">
            <a:off x="1028711" y="1598836"/>
            <a:ext cx="16230594" cy="38509"/>
          </a:xfrm>
          <a:prstGeom prst="line">
            <a:avLst/>
          </a:prstGeom>
          <a:ln cap="flat" w="9525">
            <a:solidFill>
              <a:srgbClr val="2B2C30"/>
            </a:solidFill>
            <a:prstDash val="solid"/>
            <a:headEnd type="none" len="sm" w="sm"/>
            <a:tailEnd type="none" len="sm" w="sm"/>
          </a:ln>
        </p:spPr>
      </p:sp>
      <p:grpSp>
        <p:nvGrpSpPr>
          <p:cNvPr name="Group 4" id="4"/>
          <p:cNvGrpSpPr/>
          <p:nvPr/>
        </p:nvGrpSpPr>
        <p:grpSpPr>
          <a:xfrm rot="0">
            <a:off x="1161784" y="1747521"/>
            <a:ext cx="6923262" cy="8082807"/>
            <a:chOff x="0" y="0"/>
            <a:chExt cx="9231017" cy="10777076"/>
          </a:xfrm>
        </p:grpSpPr>
        <p:grpSp>
          <p:nvGrpSpPr>
            <p:cNvPr name="Group 5" id="5"/>
            <p:cNvGrpSpPr/>
            <p:nvPr/>
          </p:nvGrpSpPr>
          <p:grpSpPr>
            <a:xfrm rot="0">
              <a:off x="0" y="0"/>
              <a:ext cx="9231017" cy="10777076"/>
              <a:chOff x="0" y="0"/>
              <a:chExt cx="2105775" cy="2458461"/>
            </a:xfrm>
          </p:grpSpPr>
          <p:sp>
            <p:nvSpPr>
              <p:cNvPr name="Freeform 6" id="6"/>
              <p:cNvSpPr/>
              <p:nvPr/>
            </p:nvSpPr>
            <p:spPr>
              <a:xfrm flipH="false" flipV="false" rot="0">
                <a:off x="0" y="0"/>
                <a:ext cx="2105775" cy="2458461"/>
              </a:xfrm>
              <a:custGeom>
                <a:avLst/>
                <a:gdLst/>
                <a:ahLst/>
                <a:cxnLst/>
                <a:rect r="r" b="b" t="t" l="l"/>
                <a:pathLst>
                  <a:path h="2458461" w="2105775">
                    <a:moveTo>
                      <a:pt x="0" y="0"/>
                    </a:moveTo>
                    <a:lnTo>
                      <a:pt x="2105775" y="0"/>
                    </a:lnTo>
                    <a:lnTo>
                      <a:pt x="2105775" y="2458461"/>
                    </a:lnTo>
                    <a:lnTo>
                      <a:pt x="0" y="2458461"/>
                    </a:lnTo>
                    <a:close/>
                  </a:path>
                </a:pathLst>
              </a:custGeom>
              <a:ln w="9525" cap="sq">
                <a:solidFill>
                  <a:srgbClr val="2B2C30"/>
                </a:solidFill>
                <a:prstDash val="solid"/>
                <a:miter/>
              </a:ln>
            </p:spPr>
          </p:sp>
          <p:sp>
            <p:nvSpPr>
              <p:cNvPr name="TextBox 7" id="7"/>
              <p:cNvSpPr txBox="true"/>
              <p:nvPr/>
            </p:nvSpPr>
            <p:spPr>
              <a:xfrm>
                <a:off x="0" y="-28575"/>
                <a:ext cx="2105775" cy="2487036"/>
              </a:xfrm>
              <a:prstGeom prst="rect">
                <a:avLst/>
              </a:prstGeom>
            </p:spPr>
            <p:txBody>
              <a:bodyPr anchor="ctr" rtlCol="false" tIns="68580" lIns="68580" bIns="68580" rIns="68580"/>
              <a:lstStyle/>
              <a:p>
                <a:pPr algn="ctr">
                  <a:lnSpc>
                    <a:spcPts val="1889"/>
                  </a:lnSpc>
                </a:pPr>
              </a:p>
            </p:txBody>
          </p:sp>
        </p:grpSp>
        <p:sp>
          <p:nvSpPr>
            <p:cNvPr name="Freeform 8" id="8"/>
            <p:cNvSpPr/>
            <p:nvPr/>
          </p:nvSpPr>
          <p:spPr>
            <a:xfrm flipH="false" flipV="false" rot="0">
              <a:off x="560981" y="480308"/>
              <a:ext cx="8109054" cy="9816460"/>
            </a:xfrm>
            <a:custGeom>
              <a:avLst/>
              <a:gdLst/>
              <a:ahLst/>
              <a:cxnLst/>
              <a:rect r="r" b="b" t="t" l="l"/>
              <a:pathLst>
                <a:path h="9816460" w="8109054">
                  <a:moveTo>
                    <a:pt x="0" y="0"/>
                  </a:moveTo>
                  <a:lnTo>
                    <a:pt x="8109054" y="0"/>
                  </a:lnTo>
                  <a:lnTo>
                    <a:pt x="8109054" y="9816460"/>
                  </a:lnTo>
                  <a:lnTo>
                    <a:pt x="0" y="9816460"/>
                  </a:lnTo>
                  <a:lnTo>
                    <a:pt x="0" y="0"/>
                  </a:lnTo>
                  <a:close/>
                </a:path>
              </a:pathLst>
            </a:custGeom>
            <a:blipFill>
              <a:blip r:embed="rId2"/>
              <a:stretch>
                <a:fillRect l="-1313" t="0" r="0" b="0"/>
              </a:stretch>
            </a:blipFill>
          </p:spPr>
        </p:sp>
      </p:grpSp>
      <p:sp>
        <p:nvSpPr>
          <p:cNvPr name="Freeform 9" id="9"/>
          <p:cNvSpPr/>
          <p:nvPr/>
        </p:nvSpPr>
        <p:spPr>
          <a:xfrm flipH="false" flipV="false" rot="0">
            <a:off x="15166034" y="8940231"/>
            <a:ext cx="2994175" cy="1556878"/>
          </a:xfrm>
          <a:custGeom>
            <a:avLst/>
            <a:gdLst/>
            <a:ahLst/>
            <a:cxnLst/>
            <a:rect r="r" b="b" t="t" l="l"/>
            <a:pathLst>
              <a:path h="1556878" w="2994175">
                <a:moveTo>
                  <a:pt x="0" y="0"/>
                </a:moveTo>
                <a:lnTo>
                  <a:pt x="2994176" y="0"/>
                </a:lnTo>
                <a:lnTo>
                  <a:pt x="2994176" y="1556878"/>
                </a:lnTo>
                <a:lnTo>
                  <a:pt x="0" y="1556878"/>
                </a:lnTo>
                <a:lnTo>
                  <a:pt x="0" y="0"/>
                </a:lnTo>
                <a:close/>
              </a:path>
            </a:pathLst>
          </a:custGeom>
          <a:blipFill>
            <a:blip r:embed="rId3"/>
            <a:stretch>
              <a:fillRect l="-16444" t="-90820" r="-20598" b="-72738"/>
            </a:stretch>
          </a:blipFill>
        </p:spPr>
      </p:sp>
      <p:sp>
        <p:nvSpPr>
          <p:cNvPr name="TextBox 10" id="10"/>
          <p:cNvSpPr txBox="true"/>
          <p:nvPr/>
        </p:nvSpPr>
        <p:spPr>
          <a:xfrm rot="0">
            <a:off x="8258914" y="1718946"/>
            <a:ext cx="8978557" cy="6856724"/>
          </a:xfrm>
          <a:prstGeom prst="rect">
            <a:avLst/>
          </a:prstGeom>
        </p:spPr>
        <p:txBody>
          <a:bodyPr anchor="t" rtlCol="false" tIns="0" lIns="0" bIns="0" rIns="0">
            <a:spAutoFit/>
          </a:bodyPr>
          <a:lstStyle/>
          <a:p>
            <a:pPr algn="l">
              <a:lnSpc>
                <a:spcPts val="3055"/>
              </a:lnSpc>
            </a:pPr>
            <a:r>
              <a:rPr lang="en-US" sz="2350" spc="11" b="true">
                <a:solidFill>
                  <a:srgbClr val="2B2C30"/>
                </a:solidFill>
                <a:latin typeface="Playfair Display Bold"/>
                <a:ea typeface="Playfair Display Bold"/>
                <a:cs typeface="Playfair Display Bold"/>
                <a:sym typeface="Playfair Display Bold"/>
              </a:rPr>
              <a:t>C. Hybrid Model (CNN + Attention)</a:t>
            </a:r>
          </a:p>
          <a:p>
            <a:pPr algn="l" marL="507463" indent="-253732" lvl="1">
              <a:lnSpc>
                <a:spcPts val="3055"/>
              </a:lnSpc>
              <a:buFont typeface="Arial"/>
              <a:buChar char="•"/>
            </a:pPr>
            <a:r>
              <a:rPr lang="en-US" b="true" sz="2350" spc="11">
                <a:solidFill>
                  <a:srgbClr val="2B2C30"/>
                </a:solidFill>
                <a:latin typeface="Playfair Display Bold"/>
                <a:ea typeface="Playfair Display Bold"/>
                <a:cs typeface="Playfair Display Bold"/>
                <a:sym typeface="Playfair Display Bold"/>
              </a:rPr>
              <a:t>Purpose:</a:t>
            </a:r>
            <a:r>
              <a:rPr lang="en-US" sz="2350" spc="11">
                <a:solidFill>
                  <a:srgbClr val="2B2C30"/>
                </a:solidFill>
                <a:latin typeface="Playfair Display"/>
                <a:ea typeface="Playfair Display"/>
                <a:cs typeface="Playfair Display"/>
                <a:sym typeface="Playfair Display"/>
              </a:rPr>
              <a:t> To enhance a standard CNN (often a transfer learning backbone) with an attention mechanism, forcing the model to focus on the most diagnostically relevant parts of the X ray image.</a:t>
            </a:r>
          </a:p>
          <a:p>
            <a:pPr algn="l" marL="507463" indent="-253732" lvl="1">
              <a:lnSpc>
                <a:spcPts val="3055"/>
              </a:lnSpc>
              <a:buFont typeface="Arial"/>
              <a:buChar char="•"/>
            </a:pPr>
            <a:r>
              <a:rPr lang="en-US" b="true" sz="2350" spc="11">
                <a:solidFill>
                  <a:srgbClr val="2B2C30"/>
                </a:solidFill>
                <a:latin typeface="Playfair Display Bold"/>
                <a:ea typeface="Playfair Display Bold"/>
                <a:cs typeface="Playfair Display Bold"/>
                <a:sym typeface="Playfair Display Bold"/>
              </a:rPr>
              <a:t>Workflow:</a:t>
            </a:r>
          </a:p>
          <a:p>
            <a:pPr algn="l" marL="1014926" indent="-338309" lvl="2">
              <a:lnSpc>
                <a:spcPts val="3055"/>
              </a:lnSpc>
              <a:buAutoNum type="alphaLcPeriod" startAt="1"/>
            </a:pPr>
            <a:r>
              <a:rPr lang="en-US" b="true" sz="2350" spc="11">
                <a:solidFill>
                  <a:srgbClr val="2B2C30"/>
                </a:solidFill>
                <a:latin typeface="Playfair Display Bold"/>
                <a:ea typeface="Playfair Display Bold"/>
                <a:cs typeface="Playfair Display Bold"/>
                <a:sym typeface="Playfair Display Bold"/>
              </a:rPr>
              <a:t>Load CNN Feature Extractor:</a:t>
            </a:r>
            <a:r>
              <a:rPr lang="en-US" sz="2350" spc="11">
                <a:solidFill>
                  <a:srgbClr val="2B2C30"/>
                </a:solidFill>
                <a:latin typeface="Playfair Display"/>
                <a:ea typeface="Playfair Display"/>
                <a:cs typeface="Playfair Display"/>
                <a:sym typeface="Playfair Display"/>
              </a:rPr>
              <a:t> Use a pre trained CNN (e.g., EfficientNet) as a backbone to extract feature maps.</a:t>
            </a:r>
          </a:p>
          <a:p>
            <a:pPr algn="l" marL="1014926" indent="-338309" lvl="2">
              <a:lnSpc>
                <a:spcPts val="3055"/>
              </a:lnSpc>
              <a:buAutoNum type="alphaLcPeriod" startAt="1"/>
            </a:pPr>
            <a:r>
              <a:rPr lang="en-US" b="true" sz="2350" spc="11">
                <a:solidFill>
                  <a:srgbClr val="2B2C30"/>
                </a:solidFill>
                <a:latin typeface="Playfair Display Bold"/>
                <a:ea typeface="Playfair Display Bold"/>
                <a:cs typeface="Playfair Display Bold"/>
                <a:sym typeface="Playfair Display Bold"/>
              </a:rPr>
              <a:t>Apply Attention Mechanism:</a:t>
            </a:r>
            <a:r>
              <a:rPr lang="en-US" sz="2350" spc="11">
                <a:solidFill>
                  <a:srgbClr val="2B2C30"/>
                </a:solidFill>
                <a:latin typeface="Playfair Display"/>
                <a:ea typeface="Playfair Display"/>
                <a:cs typeface="Playfair Display"/>
                <a:sym typeface="Playfair Display"/>
              </a:rPr>
              <a:t> Implement an attention layer that learns to weight the importance of different feature channels or spatial regions.</a:t>
            </a:r>
          </a:p>
          <a:p>
            <a:pPr algn="l" marL="1014926" indent="-338309" lvl="2">
              <a:lnSpc>
                <a:spcPts val="3055"/>
              </a:lnSpc>
              <a:buAutoNum type="alphaLcPeriod" startAt="1"/>
            </a:pPr>
            <a:r>
              <a:rPr lang="en-US" b="true" sz="2350" spc="11">
                <a:solidFill>
                  <a:srgbClr val="2B2C30"/>
                </a:solidFill>
                <a:latin typeface="Playfair Display Bold"/>
                <a:ea typeface="Playfair Display Bold"/>
                <a:cs typeface="Playfair Display Bold"/>
                <a:sym typeface="Playfair Display Bold"/>
              </a:rPr>
              <a:t>Add Dense Layers:</a:t>
            </a:r>
            <a:r>
              <a:rPr lang="en-US" sz="2350" spc="11">
                <a:solidFill>
                  <a:srgbClr val="2B2C30"/>
                </a:solidFill>
                <a:latin typeface="Playfair Display"/>
                <a:ea typeface="Playfair Display"/>
                <a:cs typeface="Playfair Display"/>
                <a:sym typeface="Playfair Display"/>
              </a:rPr>
              <a:t> Attach fully connected layers after the attention weighted features for final classification.</a:t>
            </a:r>
          </a:p>
          <a:p>
            <a:pPr algn="l" marL="1014926" indent="-338309" lvl="2">
              <a:lnSpc>
                <a:spcPts val="3055"/>
              </a:lnSpc>
              <a:buAutoNum type="alphaLcPeriod" startAt="1"/>
            </a:pPr>
            <a:r>
              <a:rPr lang="en-US" b="true" sz="2350" spc="11">
                <a:solidFill>
                  <a:srgbClr val="2B2C30"/>
                </a:solidFill>
                <a:latin typeface="Playfair Display Bold"/>
                <a:ea typeface="Playfair Display Bold"/>
                <a:cs typeface="Playfair Display Bold"/>
                <a:sym typeface="Playfair Display Bold"/>
              </a:rPr>
              <a:t>Compile and Train Hybrid Model:</a:t>
            </a:r>
            <a:r>
              <a:rPr lang="en-US" sz="2350" spc="11">
                <a:solidFill>
                  <a:srgbClr val="2B2C30"/>
                </a:solidFill>
                <a:latin typeface="Playfair Display"/>
                <a:ea typeface="Playfair Display"/>
                <a:cs typeface="Playfair Display"/>
                <a:sym typeface="Playfair Display"/>
              </a:rPr>
              <a:t> Train this integrated architecture end to end.</a:t>
            </a:r>
          </a:p>
          <a:p>
            <a:pPr algn="l" marL="1014926" indent="-338309" lvl="2">
              <a:lnSpc>
                <a:spcPts val="3055"/>
              </a:lnSpc>
              <a:buAutoNum type="alphaLcPeriod" startAt="1"/>
            </a:pPr>
            <a:r>
              <a:rPr lang="en-US" b="true" sz="2350" spc="11">
                <a:solidFill>
                  <a:srgbClr val="2B2C30"/>
                </a:solidFill>
                <a:latin typeface="Playfair Display Bold"/>
                <a:ea typeface="Playfair Display Bold"/>
                <a:cs typeface="Playfair Display Bold"/>
                <a:sym typeface="Playfair Display Bold"/>
              </a:rPr>
              <a:t>Evaluate Hybrid Model:</a:t>
            </a:r>
            <a:r>
              <a:rPr lang="en-US" sz="2350" spc="11">
                <a:solidFill>
                  <a:srgbClr val="2B2C30"/>
                </a:solidFill>
                <a:latin typeface="Playfair Display"/>
                <a:ea typeface="Playfair Display"/>
                <a:cs typeface="Playfair Display"/>
                <a:sym typeface="Playfair Display"/>
              </a:rPr>
              <a:t> Measure its classification performance.</a:t>
            </a:r>
          </a:p>
          <a:p>
            <a:pPr algn="l">
              <a:lnSpc>
                <a:spcPts val="3055"/>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MODULE WISE DESCRIPTION</a:t>
            </a:r>
          </a:p>
        </p:txBody>
      </p:sp>
      <p:sp>
        <p:nvSpPr>
          <p:cNvPr name="AutoShape 3" id="3"/>
          <p:cNvSpPr/>
          <p:nvPr/>
        </p:nvSpPr>
        <p:spPr>
          <a:xfrm flipV="true">
            <a:off x="1028711" y="1598836"/>
            <a:ext cx="16230594" cy="38509"/>
          </a:xfrm>
          <a:prstGeom prst="line">
            <a:avLst/>
          </a:prstGeom>
          <a:ln cap="flat" w="9525">
            <a:solidFill>
              <a:srgbClr val="2B2C30"/>
            </a:solidFill>
            <a:prstDash val="solid"/>
            <a:headEnd type="none" len="sm" w="sm"/>
            <a:tailEnd type="none" len="sm" w="sm"/>
          </a:ln>
        </p:spPr>
      </p:sp>
      <p:grpSp>
        <p:nvGrpSpPr>
          <p:cNvPr name="Group 4" id="4"/>
          <p:cNvGrpSpPr/>
          <p:nvPr/>
        </p:nvGrpSpPr>
        <p:grpSpPr>
          <a:xfrm rot="0">
            <a:off x="1161784" y="1747521"/>
            <a:ext cx="6923262" cy="8082807"/>
            <a:chOff x="0" y="0"/>
            <a:chExt cx="9231017" cy="10777076"/>
          </a:xfrm>
        </p:grpSpPr>
        <p:grpSp>
          <p:nvGrpSpPr>
            <p:cNvPr name="Group 5" id="5"/>
            <p:cNvGrpSpPr/>
            <p:nvPr/>
          </p:nvGrpSpPr>
          <p:grpSpPr>
            <a:xfrm rot="0">
              <a:off x="0" y="0"/>
              <a:ext cx="9231017" cy="10777076"/>
              <a:chOff x="0" y="0"/>
              <a:chExt cx="2105775" cy="2458461"/>
            </a:xfrm>
          </p:grpSpPr>
          <p:sp>
            <p:nvSpPr>
              <p:cNvPr name="Freeform 6" id="6"/>
              <p:cNvSpPr/>
              <p:nvPr/>
            </p:nvSpPr>
            <p:spPr>
              <a:xfrm flipH="false" flipV="false" rot="0">
                <a:off x="0" y="0"/>
                <a:ext cx="2105775" cy="2458461"/>
              </a:xfrm>
              <a:custGeom>
                <a:avLst/>
                <a:gdLst/>
                <a:ahLst/>
                <a:cxnLst/>
                <a:rect r="r" b="b" t="t" l="l"/>
                <a:pathLst>
                  <a:path h="2458461" w="2105775">
                    <a:moveTo>
                      <a:pt x="0" y="0"/>
                    </a:moveTo>
                    <a:lnTo>
                      <a:pt x="2105775" y="0"/>
                    </a:lnTo>
                    <a:lnTo>
                      <a:pt x="2105775" y="2458461"/>
                    </a:lnTo>
                    <a:lnTo>
                      <a:pt x="0" y="2458461"/>
                    </a:lnTo>
                    <a:close/>
                  </a:path>
                </a:pathLst>
              </a:custGeom>
              <a:ln w="9525" cap="sq">
                <a:solidFill>
                  <a:srgbClr val="2B2C30"/>
                </a:solidFill>
                <a:prstDash val="solid"/>
                <a:miter/>
              </a:ln>
            </p:spPr>
          </p:sp>
          <p:sp>
            <p:nvSpPr>
              <p:cNvPr name="TextBox 7" id="7"/>
              <p:cNvSpPr txBox="true"/>
              <p:nvPr/>
            </p:nvSpPr>
            <p:spPr>
              <a:xfrm>
                <a:off x="0" y="-28575"/>
                <a:ext cx="2105775" cy="2487036"/>
              </a:xfrm>
              <a:prstGeom prst="rect">
                <a:avLst/>
              </a:prstGeom>
            </p:spPr>
            <p:txBody>
              <a:bodyPr anchor="ctr" rtlCol="false" tIns="68580" lIns="68580" bIns="68580" rIns="68580"/>
              <a:lstStyle/>
              <a:p>
                <a:pPr algn="ctr">
                  <a:lnSpc>
                    <a:spcPts val="1889"/>
                  </a:lnSpc>
                </a:pPr>
              </a:p>
            </p:txBody>
          </p:sp>
        </p:grpSp>
        <p:sp>
          <p:nvSpPr>
            <p:cNvPr name="Freeform 8" id="8"/>
            <p:cNvSpPr/>
            <p:nvPr/>
          </p:nvSpPr>
          <p:spPr>
            <a:xfrm flipH="false" flipV="false" rot="0">
              <a:off x="560981" y="480308"/>
              <a:ext cx="8109054" cy="9816460"/>
            </a:xfrm>
            <a:custGeom>
              <a:avLst/>
              <a:gdLst/>
              <a:ahLst/>
              <a:cxnLst/>
              <a:rect r="r" b="b" t="t" l="l"/>
              <a:pathLst>
                <a:path h="9816460" w="8109054">
                  <a:moveTo>
                    <a:pt x="0" y="0"/>
                  </a:moveTo>
                  <a:lnTo>
                    <a:pt x="8109054" y="0"/>
                  </a:lnTo>
                  <a:lnTo>
                    <a:pt x="8109054" y="9816460"/>
                  </a:lnTo>
                  <a:lnTo>
                    <a:pt x="0" y="9816460"/>
                  </a:lnTo>
                  <a:lnTo>
                    <a:pt x="0" y="0"/>
                  </a:lnTo>
                  <a:close/>
                </a:path>
              </a:pathLst>
            </a:custGeom>
            <a:blipFill>
              <a:blip r:embed="rId2"/>
              <a:stretch>
                <a:fillRect l="-1313" t="0" r="0" b="0"/>
              </a:stretch>
            </a:blipFill>
          </p:spPr>
        </p:sp>
      </p:grpSp>
      <p:sp>
        <p:nvSpPr>
          <p:cNvPr name="Freeform 9" id="9"/>
          <p:cNvSpPr/>
          <p:nvPr/>
        </p:nvSpPr>
        <p:spPr>
          <a:xfrm flipH="false" flipV="false" rot="0">
            <a:off x="15293825" y="8730122"/>
            <a:ext cx="2994175" cy="1556878"/>
          </a:xfrm>
          <a:custGeom>
            <a:avLst/>
            <a:gdLst/>
            <a:ahLst/>
            <a:cxnLst/>
            <a:rect r="r" b="b" t="t" l="l"/>
            <a:pathLst>
              <a:path h="1556878" w="2994175">
                <a:moveTo>
                  <a:pt x="0" y="0"/>
                </a:moveTo>
                <a:lnTo>
                  <a:pt x="2994175" y="0"/>
                </a:lnTo>
                <a:lnTo>
                  <a:pt x="2994175" y="1556878"/>
                </a:lnTo>
                <a:lnTo>
                  <a:pt x="0" y="1556878"/>
                </a:lnTo>
                <a:lnTo>
                  <a:pt x="0" y="0"/>
                </a:lnTo>
                <a:close/>
              </a:path>
            </a:pathLst>
          </a:custGeom>
          <a:blipFill>
            <a:blip r:embed="rId3"/>
            <a:stretch>
              <a:fillRect l="-16444" t="-90820" r="-20598" b="-72738"/>
            </a:stretch>
          </a:blipFill>
        </p:spPr>
      </p:sp>
      <p:sp>
        <p:nvSpPr>
          <p:cNvPr name="TextBox 10" id="10"/>
          <p:cNvSpPr txBox="true"/>
          <p:nvPr/>
        </p:nvSpPr>
        <p:spPr>
          <a:xfrm rot="0">
            <a:off x="8258914" y="1718946"/>
            <a:ext cx="8978557" cy="7237724"/>
          </a:xfrm>
          <a:prstGeom prst="rect">
            <a:avLst/>
          </a:prstGeom>
        </p:spPr>
        <p:txBody>
          <a:bodyPr anchor="t" rtlCol="false" tIns="0" lIns="0" bIns="0" rIns="0">
            <a:spAutoFit/>
          </a:bodyPr>
          <a:lstStyle/>
          <a:p>
            <a:pPr algn="l">
              <a:lnSpc>
                <a:spcPts val="3055"/>
              </a:lnSpc>
            </a:pPr>
            <a:r>
              <a:rPr lang="en-US" sz="2350" spc="11" b="true">
                <a:solidFill>
                  <a:srgbClr val="2B2C30"/>
                </a:solidFill>
                <a:latin typeface="Playfair Display Bold"/>
                <a:ea typeface="Playfair Display Bold"/>
                <a:cs typeface="Playfair Display Bold"/>
                <a:sym typeface="Playfair Display Bold"/>
              </a:rPr>
              <a:t>D. Ensemble Model</a:t>
            </a:r>
          </a:p>
          <a:p>
            <a:pPr algn="l" marL="507463" indent="-253732" lvl="1">
              <a:lnSpc>
                <a:spcPts val="3055"/>
              </a:lnSpc>
              <a:buFont typeface="Arial"/>
              <a:buChar char="•"/>
            </a:pPr>
            <a:r>
              <a:rPr lang="en-US" b="true" sz="2350" spc="11">
                <a:solidFill>
                  <a:srgbClr val="2B2C30"/>
                </a:solidFill>
                <a:latin typeface="Playfair Display Bold"/>
                <a:ea typeface="Playfair Display Bold"/>
                <a:cs typeface="Playfair Display Bold"/>
                <a:sym typeface="Playfair Display Bold"/>
              </a:rPr>
              <a:t>Purpose:</a:t>
            </a:r>
            <a:r>
              <a:rPr lang="en-US" sz="2350" spc="11">
                <a:solidFill>
                  <a:srgbClr val="2B2C30"/>
                </a:solidFill>
                <a:latin typeface="Playfair Display"/>
                <a:ea typeface="Playfair Display"/>
                <a:cs typeface="Playfair Display"/>
                <a:sym typeface="Playfair Display"/>
              </a:rPr>
              <a:t> To combine the strengths of multiple high performing individual models to create a more robust and accurate "meta model."</a:t>
            </a:r>
          </a:p>
          <a:p>
            <a:pPr algn="l" marL="507463" indent="-253732" lvl="1">
              <a:lnSpc>
                <a:spcPts val="3055"/>
              </a:lnSpc>
              <a:buFont typeface="Arial"/>
              <a:buChar char="•"/>
            </a:pPr>
            <a:r>
              <a:rPr lang="en-US" b="true" sz="2350" spc="11">
                <a:solidFill>
                  <a:srgbClr val="2B2C30"/>
                </a:solidFill>
                <a:latin typeface="Playfair Display Bold"/>
                <a:ea typeface="Playfair Display Bold"/>
                <a:cs typeface="Playfair Display Bold"/>
                <a:sym typeface="Playfair Display Bold"/>
              </a:rPr>
              <a:t>Workflow:</a:t>
            </a:r>
          </a:p>
          <a:p>
            <a:pPr algn="l" marL="1014926" indent="-338309" lvl="2">
              <a:lnSpc>
                <a:spcPts val="3055"/>
              </a:lnSpc>
              <a:buAutoNum type="alphaLcPeriod" startAt="1"/>
            </a:pPr>
            <a:r>
              <a:rPr lang="en-US" b="true" sz="2350" spc="11">
                <a:solidFill>
                  <a:srgbClr val="2B2C30"/>
                </a:solidFill>
                <a:latin typeface="Playfair Display Bold"/>
                <a:ea typeface="Playfair Display Bold"/>
                <a:cs typeface="Playfair Display Bold"/>
                <a:sym typeface="Playfair Display Bold"/>
              </a:rPr>
              <a:t>Select Base Models:</a:t>
            </a:r>
            <a:r>
              <a:rPr lang="en-US" sz="2350" spc="11">
                <a:solidFill>
                  <a:srgbClr val="2B2C30"/>
                </a:solidFill>
                <a:latin typeface="Playfair Display"/>
                <a:ea typeface="Playfair Display"/>
                <a:cs typeface="Playfair Display"/>
                <a:sym typeface="Playfair Display"/>
              </a:rPr>
              <a:t> Choose the best performing models from previous stages (e.g., MobileNet, EfficientNet) as ensemble members.</a:t>
            </a:r>
          </a:p>
          <a:p>
            <a:pPr algn="l" marL="1014926" indent="-338309" lvl="2">
              <a:lnSpc>
                <a:spcPts val="3055"/>
              </a:lnSpc>
              <a:buAutoNum type="alphaLcPeriod" startAt="1"/>
            </a:pPr>
            <a:r>
              <a:rPr lang="en-US" b="true" sz="2350" spc="11">
                <a:solidFill>
                  <a:srgbClr val="2B2C30"/>
                </a:solidFill>
                <a:latin typeface="Playfair Display Bold"/>
                <a:ea typeface="Playfair Display Bold"/>
                <a:cs typeface="Playfair Display Bold"/>
                <a:sym typeface="Playfair Display Bold"/>
              </a:rPr>
              <a:t>Concatenate All Models:</a:t>
            </a:r>
            <a:r>
              <a:rPr lang="en-US" sz="2350" spc="11">
                <a:solidFill>
                  <a:srgbClr val="2B2C30"/>
                </a:solidFill>
                <a:latin typeface="Playfair Display"/>
                <a:ea typeface="Playfair Display"/>
                <a:cs typeface="Playfair Display"/>
                <a:sym typeface="Playfair Display"/>
              </a:rPr>
              <a:t> Merge the outputs (penultimate layer features or predictions) from each base model.</a:t>
            </a:r>
          </a:p>
          <a:p>
            <a:pPr algn="l" marL="1014926" indent="-338309" lvl="2">
              <a:lnSpc>
                <a:spcPts val="3055"/>
              </a:lnSpc>
              <a:buAutoNum type="alphaLcPeriod" startAt="1"/>
            </a:pPr>
            <a:r>
              <a:rPr lang="en-US" b="true" sz="2350" spc="11">
                <a:solidFill>
                  <a:srgbClr val="2B2C30"/>
                </a:solidFill>
                <a:latin typeface="Playfair Display Bold"/>
                <a:ea typeface="Playfair Display Bold"/>
                <a:cs typeface="Playfair Display Bold"/>
                <a:sym typeface="Playfair Display Bold"/>
              </a:rPr>
              <a:t>Add Final Classifier:</a:t>
            </a:r>
            <a:r>
              <a:rPr lang="en-US" sz="2350" spc="11">
                <a:solidFill>
                  <a:srgbClr val="2B2C30"/>
                </a:solidFill>
                <a:latin typeface="Playfair Display"/>
                <a:ea typeface="Playfair Display"/>
                <a:cs typeface="Playfair Display"/>
                <a:sym typeface="Playfair Display"/>
              </a:rPr>
              <a:t> Attach a new classifier (e.g., a dense layer) that learns from this combined, richer set of features.</a:t>
            </a:r>
          </a:p>
          <a:p>
            <a:pPr algn="l" marL="1014926" indent="-338309" lvl="2">
              <a:lnSpc>
                <a:spcPts val="3055"/>
              </a:lnSpc>
              <a:buAutoNum type="alphaLcPeriod" startAt="1"/>
            </a:pPr>
            <a:r>
              <a:rPr lang="en-US" b="true" sz="2350" spc="11">
                <a:solidFill>
                  <a:srgbClr val="2B2C30"/>
                </a:solidFill>
                <a:latin typeface="Playfair Display Bold"/>
                <a:ea typeface="Playfair Display Bold"/>
                <a:cs typeface="Playfair Display Bold"/>
                <a:sym typeface="Playfair Display Bold"/>
              </a:rPr>
              <a:t>Compile and Train Ensemble Model:</a:t>
            </a:r>
            <a:r>
              <a:rPr lang="en-US" sz="2350" spc="11">
                <a:solidFill>
                  <a:srgbClr val="2B2C30"/>
                </a:solidFill>
                <a:latin typeface="Playfair Display"/>
                <a:ea typeface="Playfair Display"/>
                <a:cs typeface="Playfair Display"/>
                <a:sym typeface="Playfair Display"/>
              </a:rPr>
              <a:t> Train the final classifier layer, often while keeping the base models frozen.</a:t>
            </a:r>
          </a:p>
          <a:p>
            <a:pPr algn="l" marL="1014926" indent="-338309" lvl="2">
              <a:lnSpc>
                <a:spcPts val="3055"/>
              </a:lnSpc>
              <a:buAutoNum type="alphaLcPeriod" startAt="1"/>
            </a:pPr>
            <a:r>
              <a:rPr lang="en-US" b="true" sz="2350" spc="11">
                <a:solidFill>
                  <a:srgbClr val="2B2C30"/>
                </a:solidFill>
                <a:latin typeface="Playfair Display Bold"/>
                <a:ea typeface="Playfair Display Bold"/>
                <a:cs typeface="Playfair Display Bold"/>
                <a:sym typeface="Playfair Display Bold"/>
              </a:rPr>
              <a:t>Evaluate Ensemble Model:</a:t>
            </a:r>
            <a:r>
              <a:rPr lang="en-US" sz="2350" spc="11">
                <a:solidFill>
                  <a:srgbClr val="2B2C30"/>
                </a:solidFill>
                <a:latin typeface="Playfair Display"/>
                <a:ea typeface="Playfair Display"/>
                <a:cs typeface="Playfair Display"/>
                <a:sym typeface="Playfair Display"/>
              </a:rPr>
              <a:t> Test the combined model's performance.</a:t>
            </a:r>
          </a:p>
          <a:p>
            <a:pPr algn="l">
              <a:lnSpc>
                <a:spcPts val="3055"/>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06871"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MODULE WISE DESCRIPTION</a:t>
            </a:r>
          </a:p>
        </p:txBody>
      </p:sp>
      <p:sp>
        <p:nvSpPr>
          <p:cNvPr name="AutoShape 3" id="3"/>
          <p:cNvSpPr/>
          <p:nvPr/>
        </p:nvSpPr>
        <p:spPr>
          <a:xfrm flipV="true">
            <a:off x="1028711" y="1598836"/>
            <a:ext cx="16230594" cy="38509"/>
          </a:xfrm>
          <a:prstGeom prst="line">
            <a:avLst/>
          </a:prstGeom>
          <a:ln cap="flat" w="9525">
            <a:solidFill>
              <a:srgbClr val="2B2C30"/>
            </a:solidFill>
            <a:prstDash val="solid"/>
            <a:headEnd type="none" len="sm" w="sm"/>
            <a:tailEnd type="none" len="sm" w="sm"/>
          </a:ln>
        </p:spPr>
      </p:sp>
      <p:grpSp>
        <p:nvGrpSpPr>
          <p:cNvPr name="Group 4" id="4"/>
          <p:cNvGrpSpPr/>
          <p:nvPr/>
        </p:nvGrpSpPr>
        <p:grpSpPr>
          <a:xfrm rot="0">
            <a:off x="1161784" y="1747521"/>
            <a:ext cx="6923262" cy="8082807"/>
            <a:chOff x="0" y="0"/>
            <a:chExt cx="9231017" cy="10777076"/>
          </a:xfrm>
        </p:grpSpPr>
        <p:grpSp>
          <p:nvGrpSpPr>
            <p:cNvPr name="Group 5" id="5"/>
            <p:cNvGrpSpPr/>
            <p:nvPr/>
          </p:nvGrpSpPr>
          <p:grpSpPr>
            <a:xfrm rot="0">
              <a:off x="0" y="0"/>
              <a:ext cx="9231017" cy="10777076"/>
              <a:chOff x="0" y="0"/>
              <a:chExt cx="2105775" cy="2458461"/>
            </a:xfrm>
          </p:grpSpPr>
          <p:sp>
            <p:nvSpPr>
              <p:cNvPr name="Freeform 6" id="6"/>
              <p:cNvSpPr/>
              <p:nvPr/>
            </p:nvSpPr>
            <p:spPr>
              <a:xfrm flipH="false" flipV="false" rot="0">
                <a:off x="0" y="0"/>
                <a:ext cx="2105775" cy="2458461"/>
              </a:xfrm>
              <a:custGeom>
                <a:avLst/>
                <a:gdLst/>
                <a:ahLst/>
                <a:cxnLst/>
                <a:rect r="r" b="b" t="t" l="l"/>
                <a:pathLst>
                  <a:path h="2458461" w="2105775">
                    <a:moveTo>
                      <a:pt x="0" y="0"/>
                    </a:moveTo>
                    <a:lnTo>
                      <a:pt x="2105775" y="0"/>
                    </a:lnTo>
                    <a:lnTo>
                      <a:pt x="2105775" y="2458461"/>
                    </a:lnTo>
                    <a:lnTo>
                      <a:pt x="0" y="2458461"/>
                    </a:lnTo>
                    <a:close/>
                  </a:path>
                </a:pathLst>
              </a:custGeom>
              <a:ln w="9525" cap="sq">
                <a:solidFill>
                  <a:srgbClr val="2B2C30"/>
                </a:solidFill>
                <a:prstDash val="solid"/>
                <a:miter/>
              </a:ln>
            </p:spPr>
          </p:sp>
          <p:sp>
            <p:nvSpPr>
              <p:cNvPr name="TextBox 7" id="7"/>
              <p:cNvSpPr txBox="true"/>
              <p:nvPr/>
            </p:nvSpPr>
            <p:spPr>
              <a:xfrm>
                <a:off x="0" y="-28575"/>
                <a:ext cx="2105775" cy="2487036"/>
              </a:xfrm>
              <a:prstGeom prst="rect">
                <a:avLst/>
              </a:prstGeom>
            </p:spPr>
            <p:txBody>
              <a:bodyPr anchor="ctr" rtlCol="false" tIns="68580" lIns="68580" bIns="68580" rIns="68580"/>
              <a:lstStyle/>
              <a:p>
                <a:pPr algn="ctr">
                  <a:lnSpc>
                    <a:spcPts val="1889"/>
                  </a:lnSpc>
                </a:pPr>
              </a:p>
            </p:txBody>
          </p:sp>
        </p:grpSp>
        <p:sp>
          <p:nvSpPr>
            <p:cNvPr name="Freeform 8" id="8"/>
            <p:cNvSpPr/>
            <p:nvPr/>
          </p:nvSpPr>
          <p:spPr>
            <a:xfrm flipH="false" flipV="false" rot="0">
              <a:off x="560981" y="480308"/>
              <a:ext cx="8109054" cy="9816460"/>
            </a:xfrm>
            <a:custGeom>
              <a:avLst/>
              <a:gdLst/>
              <a:ahLst/>
              <a:cxnLst/>
              <a:rect r="r" b="b" t="t" l="l"/>
              <a:pathLst>
                <a:path h="9816460" w="8109054">
                  <a:moveTo>
                    <a:pt x="0" y="0"/>
                  </a:moveTo>
                  <a:lnTo>
                    <a:pt x="8109054" y="0"/>
                  </a:lnTo>
                  <a:lnTo>
                    <a:pt x="8109054" y="9816460"/>
                  </a:lnTo>
                  <a:lnTo>
                    <a:pt x="0" y="9816460"/>
                  </a:lnTo>
                  <a:lnTo>
                    <a:pt x="0" y="0"/>
                  </a:lnTo>
                  <a:close/>
                </a:path>
              </a:pathLst>
            </a:custGeom>
            <a:blipFill>
              <a:blip r:embed="rId2"/>
              <a:stretch>
                <a:fillRect l="-1313" t="0" r="0" b="0"/>
              </a:stretch>
            </a:blipFill>
          </p:spPr>
        </p:sp>
      </p:grpSp>
      <p:sp>
        <p:nvSpPr>
          <p:cNvPr name="Freeform 9" id="9"/>
          <p:cNvSpPr/>
          <p:nvPr/>
        </p:nvSpPr>
        <p:spPr>
          <a:xfrm flipH="false" flipV="false" rot="0">
            <a:off x="15166034" y="8940231"/>
            <a:ext cx="2994175" cy="1556878"/>
          </a:xfrm>
          <a:custGeom>
            <a:avLst/>
            <a:gdLst/>
            <a:ahLst/>
            <a:cxnLst/>
            <a:rect r="r" b="b" t="t" l="l"/>
            <a:pathLst>
              <a:path h="1556878" w="2994175">
                <a:moveTo>
                  <a:pt x="0" y="0"/>
                </a:moveTo>
                <a:lnTo>
                  <a:pt x="2994176" y="0"/>
                </a:lnTo>
                <a:lnTo>
                  <a:pt x="2994176" y="1556878"/>
                </a:lnTo>
                <a:lnTo>
                  <a:pt x="0" y="1556878"/>
                </a:lnTo>
                <a:lnTo>
                  <a:pt x="0" y="0"/>
                </a:lnTo>
                <a:close/>
              </a:path>
            </a:pathLst>
          </a:custGeom>
          <a:blipFill>
            <a:blip r:embed="rId3"/>
            <a:stretch>
              <a:fillRect l="-16444" t="-90820" r="-20598" b="-72738"/>
            </a:stretch>
          </a:blipFill>
        </p:spPr>
      </p:sp>
      <p:sp>
        <p:nvSpPr>
          <p:cNvPr name="TextBox 10" id="10"/>
          <p:cNvSpPr txBox="true"/>
          <p:nvPr/>
        </p:nvSpPr>
        <p:spPr>
          <a:xfrm rot="0">
            <a:off x="8258914" y="1891350"/>
            <a:ext cx="8978557" cy="6475724"/>
          </a:xfrm>
          <a:prstGeom prst="rect">
            <a:avLst/>
          </a:prstGeom>
        </p:spPr>
        <p:txBody>
          <a:bodyPr anchor="t" rtlCol="false" tIns="0" lIns="0" bIns="0" rIns="0">
            <a:spAutoFit/>
          </a:bodyPr>
          <a:lstStyle/>
          <a:p>
            <a:pPr algn="l">
              <a:lnSpc>
                <a:spcPts val="3055"/>
              </a:lnSpc>
            </a:pPr>
            <a:r>
              <a:rPr lang="en-US" b="true" sz="2350" spc="11" u="sng">
                <a:solidFill>
                  <a:srgbClr val="2B2C30"/>
                </a:solidFill>
                <a:latin typeface="Playfair Display Bold"/>
                <a:ea typeface="Playfair Display Bold"/>
                <a:cs typeface="Playfair Display Bold"/>
                <a:sym typeface="Playfair Display Bold"/>
              </a:rPr>
              <a:t>4. Performance Comparison and Visualization</a:t>
            </a:r>
          </a:p>
          <a:p>
            <a:pPr algn="l" marL="507463" indent="-253732" lvl="1">
              <a:lnSpc>
                <a:spcPts val="3055"/>
              </a:lnSpc>
              <a:buFont typeface="Arial"/>
              <a:buChar char="•"/>
            </a:pPr>
            <a:r>
              <a:rPr lang="en-US" b="true" sz="2350" spc="11">
                <a:solidFill>
                  <a:srgbClr val="2B2C30"/>
                </a:solidFill>
                <a:latin typeface="Playfair Display Bold"/>
                <a:ea typeface="Playfair Display Bold"/>
                <a:cs typeface="Playfair Display Bold"/>
                <a:sym typeface="Playfair Display Bold"/>
              </a:rPr>
              <a:t>Purpose:</a:t>
            </a:r>
            <a:r>
              <a:rPr lang="en-US" sz="2350" spc="11">
                <a:solidFill>
                  <a:srgbClr val="2B2C30"/>
                </a:solidFill>
                <a:latin typeface="Playfair Display"/>
                <a:ea typeface="Playfair Display"/>
                <a:cs typeface="Playfair Display"/>
                <a:sym typeface="Playfair Display"/>
              </a:rPr>
              <a:t> To analyze all developed models and select the optimal one for real world use.</a:t>
            </a:r>
          </a:p>
          <a:p>
            <a:pPr algn="l" marL="507463" indent="-253732" lvl="1">
              <a:lnSpc>
                <a:spcPts val="3055"/>
              </a:lnSpc>
              <a:buFont typeface="Arial"/>
              <a:buChar char="•"/>
            </a:pPr>
            <a:r>
              <a:rPr lang="en-US" b="true" sz="2350" spc="11">
                <a:solidFill>
                  <a:srgbClr val="2B2C30"/>
                </a:solidFill>
                <a:latin typeface="Playfair Display Bold"/>
                <a:ea typeface="Playfair Display Bold"/>
                <a:cs typeface="Playfair Display Bold"/>
                <a:sym typeface="Playfair Display Bold"/>
              </a:rPr>
              <a:t>Key Activities:</a:t>
            </a:r>
          </a:p>
          <a:p>
            <a:pPr algn="l" marL="1014926" indent="-338309" lvl="2">
              <a:lnSpc>
                <a:spcPts val="3055"/>
              </a:lnSpc>
              <a:buFont typeface="Arial"/>
              <a:buChar char="⚬"/>
            </a:pPr>
            <a:r>
              <a:rPr lang="en-US" b="true" sz="2350" spc="11">
                <a:solidFill>
                  <a:srgbClr val="2B2C30"/>
                </a:solidFill>
                <a:latin typeface="Playfair Display Bold"/>
                <a:ea typeface="Playfair Display Bold"/>
                <a:cs typeface="Playfair Display Bold"/>
                <a:sym typeface="Playfair Display Bold"/>
              </a:rPr>
              <a:t>Compare Models:</a:t>
            </a:r>
            <a:r>
              <a:rPr lang="en-US" sz="2350" spc="11">
                <a:solidFill>
                  <a:srgbClr val="2B2C30"/>
                </a:solidFill>
                <a:latin typeface="Playfair Display"/>
                <a:ea typeface="Playfair Display"/>
                <a:cs typeface="Playfair Display"/>
                <a:sym typeface="Playfair Display"/>
              </a:rPr>
              <a:t> Systematically compare all models (Custom CNN, TL models, Hybrid, Ensemble) using standardized metrics.</a:t>
            </a:r>
          </a:p>
          <a:p>
            <a:pPr algn="l" marL="1014926" indent="-338309" lvl="2">
              <a:lnSpc>
                <a:spcPts val="3055"/>
              </a:lnSpc>
              <a:buFont typeface="Arial"/>
              <a:buChar char="⚬"/>
            </a:pPr>
            <a:r>
              <a:rPr lang="en-US" b="true" sz="2350" spc="11">
                <a:solidFill>
                  <a:srgbClr val="2B2C30"/>
                </a:solidFill>
                <a:latin typeface="Playfair Display Bold"/>
                <a:ea typeface="Playfair Display Bold"/>
                <a:cs typeface="Playfair Display Bold"/>
                <a:sym typeface="Playfair Display Bold"/>
              </a:rPr>
              <a:t>Evaluate Performance Metrics:</a:t>
            </a:r>
            <a:r>
              <a:rPr lang="en-US" sz="2350" spc="11">
                <a:solidFill>
                  <a:srgbClr val="2B2C30"/>
                </a:solidFill>
                <a:latin typeface="Playfair Display"/>
                <a:ea typeface="Playfair Display"/>
                <a:cs typeface="Playfair Display"/>
                <a:sym typeface="Playfair Display"/>
              </a:rPr>
              <a:t> Calculate and review key metrics such as Accuracy, Precision, Recall, F1 Score, and confusion matrices for each class.</a:t>
            </a:r>
          </a:p>
          <a:p>
            <a:pPr algn="l" marL="1014926" indent="-338309" lvl="2">
              <a:lnSpc>
                <a:spcPts val="3055"/>
              </a:lnSpc>
              <a:buFont typeface="Arial"/>
              <a:buChar char="⚬"/>
            </a:pPr>
            <a:r>
              <a:rPr lang="en-US" b="true" sz="2350" spc="11">
                <a:solidFill>
                  <a:srgbClr val="2B2C30"/>
                </a:solidFill>
                <a:latin typeface="Playfair Display Bold"/>
                <a:ea typeface="Playfair Display Bold"/>
                <a:cs typeface="Playfair Display Bold"/>
                <a:sym typeface="Playfair Display Bold"/>
              </a:rPr>
              <a:t>Save Best Model:</a:t>
            </a:r>
            <a:r>
              <a:rPr lang="en-US" sz="2350" spc="11">
                <a:solidFill>
                  <a:srgbClr val="2B2C30"/>
                </a:solidFill>
                <a:latin typeface="Playfair Display"/>
                <a:ea typeface="Playfair Display"/>
                <a:cs typeface="Playfair Display"/>
                <a:sym typeface="Playfair Display"/>
              </a:rPr>
              <a:t> Identify the model with the best and most consistent performance on the validation/test sets and save its architecture and weights.</a:t>
            </a:r>
          </a:p>
          <a:p>
            <a:pPr algn="l" marL="1014926" indent="-338309" lvl="2">
              <a:lnSpc>
                <a:spcPts val="3055"/>
              </a:lnSpc>
              <a:buFont typeface="Arial"/>
              <a:buChar char="⚬"/>
            </a:pPr>
            <a:r>
              <a:rPr lang="en-US" b="true" sz="2350" spc="11">
                <a:solidFill>
                  <a:srgbClr val="2B2C30"/>
                </a:solidFill>
                <a:latin typeface="Playfair Display Bold"/>
                <a:ea typeface="Playfair Display Bold"/>
                <a:cs typeface="Playfair Display Bold"/>
                <a:sym typeface="Playfair Display Bold"/>
              </a:rPr>
              <a:t>Deploy the Model:</a:t>
            </a:r>
            <a:r>
              <a:rPr lang="en-US" sz="2350" spc="11">
                <a:solidFill>
                  <a:srgbClr val="2B2C30"/>
                </a:solidFill>
                <a:latin typeface="Playfair Display"/>
                <a:ea typeface="Playfair Display"/>
                <a:cs typeface="Playfair Display"/>
                <a:sym typeface="Playfair Display"/>
              </a:rPr>
              <a:t> Prepare the selected best model for integration into a clinical or screening application, such as a web service or mobile app.</a:t>
            </a:r>
          </a:p>
          <a:p>
            <a:pPr algn="l">
              <a:lnSpc>
                <a:spcPts val="3055"/>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844571" y="1824656"/>
            <a:ext cx="16230594" cy="38509"/>
          </a:xfrm>
          <a:prstGeom prst="line">
            <a:avLst/>
          </a:prstGeom>
          <a:ln cap="flat" w="9525">
            <a:solidFill>
              <a:srgbClr val="2B2C30"/>
            </a:solidFill>
            <a:prstDash val="solid"/>
            <a:headEnd type="none" len="sm" w="sm"/>
            <a:tailEnd type="none" len="sm" w="sm"/>
          </a:ln>
        </p:spPr>
      </p:sp>
      <p:sp>
        <p:nvSpPr>
          <p:cNvPr name="Freeform 3" id="3"/>
          <p:cNvSpPr/>
          <p:nvPr/>
        </p:nvSpPr>
        <p:spPr>
          <a:xfrm flipH="false" flipV="false" rot="0">
            <a:off x="15293825" y="8730122"/>
            <a:ext cx="2994175" cy="1556878"/>
          </a:xfrm>
          <a:custGeom>
            <a:avLst/>
            <a:gdLst/>
            <a:ahLst/>
            <a:cxnLst/>
            <a:rect r="r" b="b" t="t" l="l"/>
            <a:pathLst>
              <a:path h="1556878" w="2994175">
                <a:moveTo>
                  <a:pt x="0" y="0"/>
                </a:moveTo>
                <a:lnTo>
                  <a:pt x="2994175" y="0"/>
                </a:lnTo>
                <a:lnTo>
                  <a:pt x="2994175" y="1556878"/>
                </a:lnTo>
                <a:lnTo>
                  <a:pt x="0" y="1556878"/>
                </a:lnTo>
                <a:lnTo>
                  <a:pt x="0" y="0"/>
                </a:lnTo>
                <a:close/>
              </a:path>
            </a:pathLst>
          </a:custGeom>
          <a:blipFill>
            <a:blip r:embed="rId2"/>
            <a:stretch>
              <a:fillRect l="-16444" t="-90820" r="-20598" b="-72738"/>
            </a:stretch>
          </a:blipFill>
        </p:spPr>
      </p:sp>
      <p:sp>
        <p:nvSpPr>
          <p:cNvPr name="Freeform 4" id="4"/>
          <p:cNvSpPr/>
          <p:nvPr/>
        </p:nvSpPr>
        <p:spPr>
          <a:xfrm flipH="false" flipV="false" rot="0">
            <a:off x="844560" y="2558249"/>
            <a:ext cx="4839523" cy="7489955"/>
          </a:xfrm>
          <a:custGeom>
            <a:avLst/>
            <a:gdLst/>
            <a:ahLst/>
            <a:cxnLst/>
            <a:rect r="r" b="b" t="t" l="l"/>
            <a:pathLst>
              <a:path h="7489955" w="4839523">
                <a:moveTo>
                  <a:pt x="0" y="0"/>
                </a:moveTo>
                <a:lnTo>
                  <a:pt x="4839523" y="0"/>
                </a:lnTo>
                <a:lnTo>
                  <a:pt x="4839523" y="7489955"/>
                </a:lnTo>
                <a:lnTo>
                  <a:pt x="0" y="7489955"/>
                </a:lnTo>
                <a:lnTo>
                  <a:pt x="0" y="0"/>
                </a:lnTo>
                <a:close/>
              </a:path>
            </a:pathLst>
          </a:custGeom>
          <a:blipFill>
            <a:blip r:embed="rId3"/>
            <a:stretch>
              <a:fillRect l="0" t="-493" r="0" b="-493"/>
            </a:stretch>
          </a:blipFill>
        </p:spPr>
      </p:sp>
      <p:sp>
        <p:nvSpPr>
          <p:cNvPr name="Freeform 5" id="5"/>
          <p:cNvSpPr/>
          <p:nvPr/>
        </p:nvSpPr>
        <p:spPr>
          <a:xfrm flipH="false" flipV="false" rot="0">
            <a:off x="6554283" y="2558249"/>
            <a:ext cx="10236630" cy="4587983"/>
          </a:xfrm>
          <a:custGeom>
            <a:avLst/>
            <a:gdLst/>
            <a:ahLst/>
            <a:cxnLst/>
            <a:rect r="r" b="b" t="t" l="l"/>
            <a:pathLst>
              <a:path h="4587983" w="10236630">
                <a:moveTo>
                  <a:pt x="0" y="0"/>
                </a:moveTo>
                <a:lnTo>
                  <a:pt x="10236629" y="0"/>
                </a:lnTo>
                <a:lnTo>
                  <a:pt x="10236629" y="4587983"/>
                </a:lnTo>
                <a:lnTo>
                  <a:pt x="0" y="4587983"/>
                </a:lnTo>
                <a:lnTo>
                  <a:pt x="0" y="0"/>
                </a:lnTo>
                <a:close/>
              </a:path>
            </a:pathLst>
          </a:custGeom>
          <a:blipFill>
            <a:blip r:embed="rId4"/>
            <a:stretch>
              <a:fillRect l="0" t="0" r="0" b="0"/>
            </a:stretch>
          </a:blipFill>
        </p:spPr>
      </p:sp>
      <p:sp>
        <p:nvSpPr>
          <p:cNvPr name="TextBox 6" id="6"/>
          <p:cNvSpPr txBox="true"/>
          <p:nvPr/>
        </p:nvSpPr>
        <p:spPr>
          <a:xfrm rot="0">
            <a:off x="844560"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RESULTS AND DISCUSSION</a:t>
            </a:r>
          </a:p>
        </p:txBody>
      </p:sp>
      <p:sp>
        <p:nvSpPr>
          <p:cNvPr name="TextBox 7" id="7"/>
          <p:cNvSpPr txBox="true"/>
          <p:nvPr/>
        </p:nvSpPr>
        <p:spPr>
          <a:xfrm rot="0">
            <a:off x="844571" y="2010803"/>
            <a:ext cx="16230594" cy="421005"/>
          </a:xfrm>
          <a:prstGeom prst="rect">
            <a:avLst/>
          </a:prstGeom>
        </p:spPr>
        <p:txBody>
          <a:bodyPr anchor="t" rtlCol="false" tIns="0" lIns="0" bIns="0" rIns="0">
            <a:spAutoFit/>
          </a:bodyPr>
          <a:lstStyle/>
          <a:p>
            <a:pPr algn="l">
              <a:lnSpc>
                <a:spcPts val="3300"/>
              </a:lnSpc>
            </a:pPr>
            <a:r>
              <a:rPr lang="en-US" b="true" sz="2200">
                <a:solidFill>
                  <a:srgbClr val="2B2C30"/>
                </a:solidFill>
                <a:latin typeface="Public Sans Bold"/>
                <a:ea typeface="Public Sans Bold"/>
                <a:cs typeface="Public Sans Bold"/>
                <a:sym typeface="Public Sans Bold"/>
              </a:rPr>
              <a:t>CUSTOM CNN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844571" y="1824656"/>
            <a:ext cx="16230594" cy="38509"/>
          </a:xfrm>
          <a:prstGeom prst="line">
            <a:avLst/>
          </a:prstGeom>
          <a:ln cap="flat" w="9525">
            <a:solidFill>
              <a:srgbClr val="2B2C30"/>
            </a:solidFill>
            <a:prstDash val="solid"/>
            <a:headEnd type="none" len="sm" w="sm"/>
            <a:tailEnd type="none" len="sm" w="sm"/>
          </a:ln>
        </p:spPr>
      </p:sp>
      <p:sp>
        <p:nvSpPr>
          <p:cNvPr name="Freeform 3" id="3"/>
          <p:cNvSpPr/>
          <p:nvPr/>
        </p:nvSpPr>
        <p:spPr>
          <a:xfrm flipH="false" flipV="false" rot="0">
            <a:off x="15293825" y="8730122"/>
            <a:ext cx="2994175" cy="1556878"/>
          </a:xfrm>
          <a:custGeom>
            <a:avLst/>
            <a:gdLst/>
            <a:ahLst/>
            <a:cxnLst/>
            <a:rect r="r" b="b" t="t" l="l"/>
            <a:pathLst>
              <a:path h="1556878" w="2994175">
                <a:moveTo>
                  <a:pt x="0" y="0"/>
                </a:moveTo>
                <a:lnTo>
                  <a:pt x="2994175" y="0"/>
                </a:lnTo>
                <a:lnTo>
                  <a:pt x="2994175" y="1556878"/>
                </a:lnTo>
                <a:lnTo>
                  <a:pt x="0" y="1556878"/>
                </a:lnTo>
                <a:lnTo>
                  <a:pt x="0" y="0"/>
                </a:lnTo>
                <a:close/>
              </a:path>
            </a:pathLst>
          </a:custGeom>
          <a:blipFill>
            <a:blip r:embed="rId2"/>
            <a:stretch>
              <a:fillRect l="-16444" t="-90820" r="-20598" b="-72738"/>
            </a:stretch>
          </a:blipFill>
        </p:spPr>
      </p:sp>
      <p:sp>
        <p:nvSpPr>
          <p:cNvPr name="Freeform 4" id="4"/>
          <p:cNvSpPr/>
          <p:nvPr/>
        </p:nvSpPr>
        <p:spPr>
          <a:xfrm flipH="false" flipV="false" rot="0">
            <a:off x="0" y="2936632"/>
            <a:ext cx="18288000" cy="4889864"/>
          </a:xfrm>
          <a:custGeom>
            <a:avLst/>
            <a:gdLst/>
            <a:ahLst/>
            <a:cxnLst/>
            <a:rect r="r" b="b" t="t" l="l"/>
            <a:pathLst>
              <a:path h="4889864" w="18288000">
                <a:moveTo>
                  <a:pt x="0" y="0"/>
                </a:moveTo>
                <a:lnTo>
                  <a:pt x="18288000" y="0"/>
                </a:lnTo>
                <a:lnTo>
                  <a:pt x="18288000" y="4889864"/>
                </a:lnTo>
                <a:lnTo>
                  <a:pt x="0" y="4889864"/>
                </a:lnTo>
                <a:lnTo>
                  <a:pt x="0" y="0"/>
                </a:lnTo>
                <a:close/>
              </a:path>
            </a:pathLst>
          </a:custGeom>
          <a:blipFill>
            <a:blip r:embed="rId3"/>
            <a:stretch>
              <a:fillRect l="-206" t="0" r="-44" b="0"/>
            </a:stretch>
          </a:blipFill>
        </p:spPr>
      </p:sp>
      <p:sp>
        <p:nvSpPr>
          <p:cNvPr name="TextBox 5" id="5"/>
          <p:cNvSpPr txBox="true"/>
          <p:nvPr/>
        </p:nvSpPr>
        <p:spPr>
          <a:xfrm rot="0">
            <a:off x="844560"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RESULTS AND DISCUSSION</a:t>
            </a:r>
          </a:p>
        </p:txBody>
      </p:sp>
      <p:sp>
        <p:nvSpPr>
          <p:cNvPr name="TextBox 6" id="6"/>
          <p:cNvSpPr txBox="true"/>
          <p:nvPr/>
        </p:nvSpPr>
        <p:spPr>
          <a:xfrm rot="0">
            <a:off x="844571" y="2010803"/>
            <a:ext cx="16230594" cy="421005"/>
          </a:xfrm>
          <a:prstGeom prst="rect">
            <a:avLst/>
          </a:prstGeom>
        </p:spPr>
        <p:txBody>
          <a:bodyPr anchor="t" rtlCol="false" tIns="0" lIns="0" bIns="0" rIns="0">
            <a:spAutoFit/>
          </a:bodyPr>
          <a:lstStyle/>
          <a:p>
            <a:pPr algn="l">
              <a:lnSpc>
                <a:spcPts val="3300"/>
              </a:lnSpc>
            </a:pPr>
            <a:r>
              <a:rPr lang="en-US" b="true" sz="2200">
                <a:solidFill>
                  <a:srgbClr val="2B2C30"/>
                </a:solidFill>
                <a:latin typeface="Public Sans Bold"/>
                <a:ea typeface="Public Sans Bold"/>
                <a:cs typeface="Public Sans Bold"/>
                <a:sym typeface="Public Sans Bold"/>
              </a:rPr>
              <a:t>CUSTOM CNN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844571" y="1824656"/>
            <a:ext cx="16230594" cy="38509"/>
          </a:xfrm>
          <a:prstGeom prst="line">
            <a:avLst/>
          </a:prstGeom>
          <a:ln cap="flat" w="9525">
            <a:solidFill>
              <a:srgbClr val="2B2C30"/>
            </a:solidFill>
            <a:prstDash val="solid"/>
            <a:headEnd type="none" len="sm" w="sm"/>
            <a:tailEnd type="none" len="sm" w="sm"/>
          </a:ln>
        </p:spPr>
      </p:sp>
      <p:sp>
        <p:nvSpPr>
          <p:cNvPr name="Freeform 3" id="3"/>
          <p:cNvSpPr/>
          <p:nvPr/>
        </p:nvSpPr>
        <p:spPr>
          <a:xfrm flipH="false" flipV="false" rot="0">
            <a:off x="15293825" y="8730122"/>
            <a:ext cx="2994175" cy="1556878"/>
          </a:xfrm>
          <a:custGeom>
            <a:avLst/>
            <a:gdLst/>
            <a:ahLst/>
            <a:cxnLst/>
            <a:rect r="r" b="b" t="t" l="l"/>
            <a:pathLst>
              <a:path h="1556878" w="2994175">
                <a:moveTo>
                  <a:pt x="0" y="0"/>
                </a:moveTo>
                <a:lnTo>
                  <a:pt x="2994175" y="0"/>
                </a:lnTo>
                <a:lnTo>
                  <a:pt x="2994175" y="1556878"/>
                </a:lnTo>
                <a:lnTo>
                  <a:pt x="0" y="1556878"/>
                </a:lnTo>
                <a:lnTo>
                  <a:pt x="0" y="0"/>
                </a:lnTo>
                <a:close/>
              </a:path>
            </a:pathLst>
          </a:custGeom>
          <a:blipFill>
            <a:blip r:embed="rId2"/>
            <a:stretch>
              <a:fillRect l="-16444" t="-90820" r="-20598" b="-72738"/>
            </a:stretch>
          </a:blipFill>
        </p:spPr>
      </p:sp>
      <p:sp>
        <p:nvSpPr>
          <p:cNvPr name="Freeform 4" id="4"/>
          <p:cNvSpPr/>
          <p:nvPr/>
        </p:nvSpPr>
        <p:spPr>
          <a:xfrm flipH="false" flipV="false" rot="0">
            <a:off x="844560" y="2558249"/>
            <a:ext cx="4757650" cy="7525370"/>
          </a:xfrm>
          <a:custGeom>
            <a:avLst/>
            <a:gdLst/>
            <a:ahLst/>
            <a:cxnLst/>
            <a:rect r="r" b="b" t="t" l="l"/>
            <a:pathLst>
              <a:path h="7525370" w="4757650">
                <a:moveTo>
                  <a:pt x="0" y="0"/>
                </a:moveTo>
                <a:lnTo>
                  <a:pt x="4757649" y="0"/>
                </a:lnTo>
                <a:lnTo>
                  <a:pt x="4757649" y="7525370"/>
                </a:lnTo>
                <a:lnTo>
                  <a:pt x="0" y="7525370"/>
                </a:lnTo>
                <a:lnTo>
                  <a:pt x="0" y="0"/>
                </a:lnTo>
                <a:close/>
              </a:path>
            </a:pathLst>
          </a:custGeom>
          <a:blipFill>
            <a:blip r:embed="rId3"/>
            <a:stretch>
              <a:fillRect l="0" t="0" r="0" b="0"/>
            </a:stretch>
          </a:blipFill>
        </p:spPr>
      </p:sp>
      <p:sp>
        <p:nvSpPr>
          <p:cNvPr name="Freeform 5" id="5"/>
          <p:cNvSpPr/>
          <p:nvPr/>
        </p:nvSpPr>
        <p:spPr>
          <a:xfrm flipH="false" flipV="false" rot="0">
            <a:off x="6453136" y="2660407"/>
            <a:ext cx="10144936" cy="4112812"/>
          </a:xfrm>
          <a:custGeom>
            <a:avLst/>
            <a:gdLst/>
            <a:ahLst/>
            <a:cxnLst/>
            <a:rect r="r" b="b" t="t" l="l"/>
            <a:pathLst>
              <a:path h="4112812" w="10144936">
                <a:moveTo>
                  <a:pt x="0" y="0"/>
                </a:moveTo>
                <a:lnTo>
                  <a:pt x="10144936" y="0"/>
                </a:lnTo>
                <a:lnTo>
                  <a:pt x="10144936" y="4112812"/>
                </a:lnTo>
                <a:lnTo>
                  <a:pt x="0" y="4112812"/>
                </a:lnTo>
                <a:lnTo>
                  <a:pt x="0" y="0"/>
                </a:lnTo>
                <a:close/>
              </a:path>
            </a:pathLst>
          </a:custGeom>
          <a:blipFill>
            <a:blip r:embed="rId4"/>
            <a:stretch>
              <a:fillRect l="0" t="0" r="0" b="0"/>
            </a:stretch>
          </a:blipFill>
        </p:spPr>
      </p:sp>
      <p:sp>
        <p:nvSpPr>
          <p:cNvPr name="TextBox 6" id="6"/>
          <p:cNvSpPr txBox="true"/>
          <p:nvPr/>
        </p:nvSpPr>
        <p:spPr>
          <a:xfrm rot="0">
            <a:off x="844560"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RESULTS AND DISCUSSION</a:t>
            </a:r>
          </a:p>
        </p:txBody>
      </p:sp>
      <p:sp>
        <p:nvSpPr>
          <p:cNvPr name="TextBox 7" id="7"/>
          <p:cNvSpPr txBox="true"/>
          <p:nvPr/>
        </p:nvSpPr>
        <p:spPr>
          <a:xfrm rot="0">
            <a:off x="844571" y="2010803"/>
            <a:ext cx="16230594" cy="421005"/>
          </a:xfrm>
          <a:prstGeom prst="rect">
            <a:avLst/>
          </a:prstGeom>
        </p:spPr>
        <p:txBody>
          <a:bodyPr anchor="t" rtlCol="false" tIns="0" lIns="0" bIns="0" rIns="0">
            <a:spAutoFit/>
          </a:bodyPr>
          <a:lstStyle/>
          <a:p>
            <a:pPr algn="l">
              <a:lnSpc>
                <a:spcPts val="3300"/>
              </a:lnSpc>
            </a:pPr>
            <a:r>
              <a:rPr lang="en-US" b="true" sz="2200">
                <a:solidFill>
                  <a:srgbClr val="2B2C30"/>
                </a:solidFill>
                <a:latin typeface="Public Sans Bold"/>
                <a:ea typeface="Public Sans Bold"/>
                <a:cs typeface="Public Sans Bold"/>
                <a:sym typeface="Public Sans Bold"/>
              </a:rPr>
              <a:t>MOBILE NET MODEL</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844571" y="1824656"/>
            <a:ext cx="16230594" cy="38509"/>
          </a:xfrm>
          <a:prstGeom prst="line">
            <a:avLst/>
          </a:prstGeom>
          <a:ln cap="flat" w="9525">
            <a:solidFill>
              <a:srgbClr val="2B2C30"/>
            </a:solidFill>
            <a:prstDash val="solid"/>
            <a:headEnd type="none" len="sm" w="sm"/>
            <a:tailEnd type="none" len="sm" w="sm"/>
          </a:ln>
        </p:spPr>
      </p:sp>
      <p:sp>
        <p:nvSpPr>
          <p:cNvPr name="Freeform 3" id="3"/>
          <p:cNvSpPr/>
          <p:nvPr/>
        </p:nvSpPr>
        <p:spPr>
          <a:xfrm flipH="false" flipV="false" rot="0">
            <a:off x="15293825" y="8730122"/>
            <a:ext cx="2994175" cy="1556878"/>
          </a:xfrm>
          <a:custGeom>
            <a:avLst/>
            <a:gdLst/>
            <a:ahLst/>
            <a:cxnLst/>
            <a:rect r="r" b="b" t="t" l="l"/>
            <a:pathLst>
              <a:path h="1556878" w="2994175">
                <a:moveTo>
                  <a:pt x="0" y="0"/>
                </a:moveTo>
                <a:lnTo>
                  <a:pt x="2994175" y="0"/>
                </a:lnTo>
                <a:lnTo>
                  <a:pt x="2994175" y="1556878"/>
                </a:lnTo>
                <a:lnTo>
                  <a:pt x="0" y="1556878"/>
                </a:lnTo>
                <a:lnTo>
                  <a:pt x="0" y="0"/>
                </a:lnTo>
                <a:close/>
              </a:path>
            </a:pathLst>
          </a:custGeom>
          <a:blipFill>
            <a:blip r:embed="rId2"/>
            <a:stretch>
              <a:fillRect l="-16444" t="-90820" r="-20598" b="-72738"/>
            </a:stretch>
          </a:blipFill>
        </p:spPr>
      </p:sp>
      <p:sp>
        <p:nvSpPr>
          <p:cNvPr name="Freeform 4" id="4"/>
          <p:cNvSpPr/>
          <p:nvPr/>
        </p:nvSpPr>
        <p:spPr>
          <a:xfrm flipH="false" flipV="false" rot="0">
            <a:off x="89492" y="2721419"/>
            <a:ext cx="18109016" cy="4844162"/>
          </a:xfrm>
          <a:custGeom>
            <a:avLst/>
            <a:gdLst/>
            <a:ahLst/>
            <a:cxnLst/>
            <a:rect r="r" b="b" t="t" l="l"/>
            <a:pathLst>
              <a:path h="4844162" w="18109016">
                <a:moveTo>
                  <a:pt x="0" y="0"/>
                </a:moveTo>
                <a:lnTo>
                  <a:pt x="18109016" y="0"/>
                </a:lnTo>
                <a:lnTo>
                  <a:pt x="18109016" y="4844162"/>
                </a:lnTo>
                <a:lnTo>
                  <a:pt x="0" y="4844162"/>
                </a:lnTo>
                <a:lnTo>
                  <a:pt x="0" y="0"/>
                </a:lnTo>
                <a:close/>
              </a:path>
            </a:pathLst>
          </a:custGeom>
          <a:blipFill>
            <a:blip r:embed="rId3"/>
            <a:stretch>
              <a:fillRect l="0" t="0" r="0" b="0"/>
            </a:stretch>
          </a:blipFill>
        </p:spPr>
      </p:sp>
      <p:sp>
        <p:nvSpPr>
          <p:cNvPr name="TextBox 5" id="5"/>
          <p:cNvSpPr txBox="true"/>
          <p:nvPr/>
        </p:nvSpPr>
        <p:spPr>
          <a:xfrm rot="0">
            <a:off x="844560"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RESULTS AND DISCUSSION</a:t>
            </a:r>
          </a:p>
        </p:txBody>
      </p:sp>
      <p:sp>
        <p:nvSpPr>
          <p:cNvPr name="TextBox 6" id="6"/>
          <p:cNvSpPr txBox="true"/>
          <p:nvPr/>
        </p:nvSpPr>
        <p:spPr>
          <a:xfrm rot="0">
            <a:off x="844571" y="2010803"/>
            <a:ext cx="16230594" cy="421005"/>
          </a:xfrm>
          <a:prstGeom prst="rect">
            <a:avLst/>
          </a:prstGeom>
        </p:spPr>
        <p:txBody>
          <a:bodyPr anchor="t" rtlCol="false" tIns="0" lIns="0" bIns="0" rIns="0">
            <a:spAutoFit/>
          </a:bodyPr>
          <a:lstStyle/>
          <a:p>
            <a:pPr algn="l">
              <a:lnSpc>
                <a:spcPts val="3300"/>
              </a:lnSpc>
            </a:pPr>
            <a:r>
              <a:rPr lang="en-US" b="true" sz="2200">
                <a:solidFill>
                  <a:srgbClr val="2B2C30"/>
                </a:solidFill>
                <a:latin typeface="Public Sans Bold"/>
                <a:ea typeface="Public Sans Bold"/>
                <a:cs typeface="Public Sans Bold"/>
                <a:sym typeface="Public Sans Bold"/>
              </a:rPr>
              <a:t>MOBILE NET MODEL</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844571" y="1824656"/>
            <a:ext cx="16230594" cy="38509"/>
          </a:xfrm>
          <a:prstGeom prst="line">
            <a:avLst/>
          </a:prstGeom>
          <a:ln cap="flat" w="9525">
            <a:solidFill>
              <a:srgbClr val="2B2C30"/>
            </a:solidFill>
            <a:prstDash val="solid"/>
            <a:headEnd type="none" len="sm" w="sm"/>
            <a:tailEnd type="none" len="sm" w="sm"/>
          </a:ln>
        </p:spPr>
      </p:sp>
      <p:sp>
        <p:nvSpPr>
          <p:cNvPr name="Freeform 3" id="3"/>
          <p:cNvSpPr/>
          <p:nvPr/>
        </p:nvSpPr>
        <p:spPr>
          <a:xfrm flipH="false" flipV="false" rot="0">
            <a:off x="15293825" y="8730122"/>
            <a:ext cx="2994175" cy="1556878"/>
          </a:xfrm>
          <a:custGeom>
            <a:avLst/>
            <a:gdLst/>
            <a:ahLst/>
            <a:cxnLst/>
            <a:rect r="r" b="b" t="t" l="l"/>
            <a:pathLst>
              <a:path h="1556878" w="2994175">
                <a:moveTo>
                  <a:pt x="0" y="0"/>
                </a:moveTo>
                <a:lnTo>
                  <a:pt x="2994175" y="0"/>
                </a:lnTo>
                <a:lnTo>
                  <a:pt x="2994175" y="1556878"/>
                </a:lnTo>
                <a:lnTo>
                  <a:pt x="0" y="1556878"/>
                </a:lnTo>
                <a:lnTo>
                  <a:pt x="0" y="0"/>
                </a:lnTo>
                <a:close/>
              </a:path>
            </a:pathLst>
          </a:custGeom>
          <a:blipFill>
            <a:blip r:embed="rId2"/>
            <a:stretch>
              <a:fillRect l="-16444" t="-90820" r="-20598" b="-72738"/>
            </a:stretch>
          </a:blipFill>
        </p:spPr>
      </p:sp>
      <p:sp>
        <p:nvSpPr>
          <p:cNvPr name="Freeform 4" id="4"/>
          <p:cNvSpPr/>
          <p:nvPr/>
        </p:nvSpPr>
        <p:spPr>
          <a:xfrm flipH="false" flipV="false" rot="0">
            <a:off x="844560" y="2660407"/>
            <a:ext cx="4920397" cy="7410096"/>
          </a:xfrm>
          <a:custGeom>
            <a:avLst/>
            <a:gdLst/>
            <a:ahLst/>
            <a:cxnLst/>
            <a:rect r="r" b="b" t="t" l="l"/>
            <a:pathLst>
              <a:path h="7410096" w="4920397">
                <a:moveTo>
                  <a:pt x="0" y="0"/>
                </a:moveTo>
                <a:lnTo>
                  <a:pt x="4920397" y="0"/>
                </a:lnTo>
                <a:lnTo>
                  <a:pt x="4920397" y="7410096"/>
                </a:lnTo>
                <a:lnTo>
                  <a:pt x="0" y="7410096"/>
                </a:lnTo>
                <a:lnTo>
                  <a:pt x="0" y="0"/>
                </a:lnTo>
                <a:close/>
              </a:path>
            </a:pathLst>
          </a:custGeom>
          <a:blipFill>
            <a:blip r:embed="rId3"/>
            <a:stretch>
              <a:fillRect l="0" t="0" r="0" b="-4364"/>
            </a:stretch>
          </a:blipFill>
        </p:spPr>
      </p:sp>
      <p:sp>
        <p:nvSpPr>
          <p:cNvPr name="Freeform 5" id="5"/>
          <p:cNvSpPr/>
          <p:nvPr/>
        </p:nvSpPr>
        <p:spPr>
          <a:xfrm flipH="false" flipV="false" rot="0">
            <a:off x="6375434" y="2660407"/>
            <a:ext cx="10690201" cy="4499784"/>
          </a:xfrm>
          <a:custGeom>
            <a:avLst/>
            <a:gdLst/>
            <a:ahLst/>
            <a:cxnLst/>
            <a:rect r="r" b="b" t="t" l="l"/>
            <a:pathLst>
              <a:path h="4499784" w="10690201">
                <a:moveTo>
                  <a:pt x="0" y="0"/>
                </a:moveTo>
                <a:lnTo>
                  <a:pt x="10690201" y="0"/>
                </a:lnTo>
                <a:lnTo>
                  <a:pt x="10690201" y="4499784"/>
                </a:lnTo>
                <a:lnTo>
                  <a:pt x="0" y="4499784"/>
                </a:lnTo>
                <a:lnTo>
                  <a:pt x="0" y="0"/>
                </a:lnTo>
                <a:close/>
              </a:path>
            </a:pathLst>
          </a:custGeom>
          <a:blipFill>
            <a:blip r:embed="rId4"/>
            <a:stretch>
              <a:fillRect l="0" t="-1384" r="0" b="-1926"/>
            </a:stretch>
          </a:blipFill>
        </p:spPr>
      </p:sp>
      <p:sp>
        <p:nvSpPr>
          <p:cNvPr name="TextBox 6" id="6"/>
          <p:cNvSpPr txBox="true"/>
          <p:nvPr/>
        </p:nvSpPr>
        <p:spPr>
          <a:xfrm rot="0">
            <a:off x="844560"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RESULTS AND DISCUSSION</a:t>
            </a:r>
          </a:p>
        </p:txBody>
      </p:sp>
      <p:sp>
        <p:nvSpPr>
          <p:cNvPr name="TextBox 7" id="7"/>
          <p:cNvSpPr txBox="true"/>
          <p:nvPr/>
        </p:nvSpPr>
        <p:spPr>
          <a:xfrm rot="0">
            <a:off x="844571" y="2010803"/>
            <a:ext cx="16230594" cy="421005"/>
          </a:xfrm>
          <a:prstGeom prst="rect">
            <a:avLst/>
          </a:prstGeom>
        </p:spPr>
        <p:txBody>
          <a:bodyPr anchor="t" rtlCol="false" tIns="0" lIns="0" bIns="0" rIns="0">
            <a:spAutoFit/>
          </a:bodyPr>
          <a:lstStyle/>
          <a:p>
            <a:pPr algn="l">
              <a:lnSpc>
                <a:spcPts val="3300"/>
              </a:lnSpc>
            </a:pPr>
            <a:r>
              <a:rPr lang="en-US" b="true" sz="2200">
                <a:solidFill>
                  <a:srgbClr val="2B2C30"/>
                </a:solidFill>
                <a:latin typeface="Public Sans Bold"/>
                <a:ea typeface="Public Sans Bold"/>
                <a:cs typeface="Public Sans Bold"/>
                <a:sym typeface="Public Sans Bold"/>
              </a:rPr>
              <a:t>EFFICIENT NET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844571" y="1824656"/>
            <a:ext cx="16230594" cy="38509"/>
          </a:xfrm>
          <a:prstGeom prst="line">
            <a:avLst/>
          </a:prstGeom>
          <a:ln cap="flat" w="9525">
            <a:solidFill>
              <a:srgbClr val="2B2C30"/>
            </a:solidFill>
            <a:prstDash val="solid"/>
            <a:headEnd type="none" len="sm" w="sm"/>
            <a:tailEnd type="none" len="sm" w="sm"/>
          </a:ln>
        </p:spPr>
      </p:sp>
      <p:sp>
        <p:nvSpPr>
          <p:cNvPr name="Freeform 3" id="3"/>
          <p:cNvSpPr/>
          <p:nvPr/>
        </p:nvSpPr>
        <p:spPr>
          <a:xfrm flipH="false" flipV="false" rot="0">
            <a:off x="15293825" y="8730122"/>
            <a:ext cx="2994175" cy="1556878"/>
          </a:xfrm>
          <a:custGeom>
            <a:avLst/>
            <a:gdLst/>
            <a:ahLst/>
            <a:cxnLst/>
            <a:rect r="r" b="b" t="t" l="l"/>
            <a:pathLst>
              <a:path h="1556878" w="2994175">
                <a:moveTo>
                  <a:pt x="0" y="0"/>
                </a:moveTo>
                <a:lnTo>
                  <a:pt x="2994175" y="0"/>
                </a:lnTo>
                <a:lnTo>
                  <a:pt x="2994175" y="1556878"/>
                </a:lnTo>
                <a:lnTo>
                  <a:pt x="0" y="1556878"/>
                </a:lnTo>
                <a:lnTo>
                  <a:pt x="0" y="0"/>
                </a:lnTo>
                <a:close/>
              </a:path>
            </a:pathLst>
          </a:custGeom>
          <a:blipFill>
            <a:blip r:embed="rId2"/>
            <a:stretch>
              <a:fillRect l="-16444" t="-90820" r="-20598" b="-72738"/>
            </a:stretch>
          </a:blipFill>
        </p:spPr>
      </p:sp>
      <p:sp>
        <p:nvSpPr>
          <p:cNvPr name="Freeform 4" id="4"/>
          <p:cNvSpPr/>
          <p:nvPr/>
        </p:nvSpPr>
        <p:spPr>
          <a:xfrm flipH="false" flipV="false" rot="0">
            <a:off x="150049" y="2754482"/>
            <a:ext cx="17987902" cy="4778037"/>
          </a:xfrm>
          <a:custGeom>
            <a:avLst/>
            <a:gdLst/>
            <a:ahLst/>
            <a:cxnLst/>
            <a:rect r="r" b="b" t="t" l="l"/>
            <a:pathLst>
              <a:path h="4778037" w="17987902">
                <a:moveTo>
                  <a:pt x="0" y="0"/>
                </a:moveTo>
                <a:lnTo>
                  <a:pt x="17987902" y="0"/>
                </a:lnTo>
                <a:lnTo>
                  <a:pt x="17987902" y="4778036"/>
                </a:lnTo>
                <a:lnTo>
                  <a:pt x="0" y="4778036"/>
                </a:lnTo>
                <a:lnTo>
                  <a:pt x="0" y="0"/>
                </a:lnTo>
                <a:close/>
              </a:path>
            </a:pathLst>
          </a:custGeom>
          <a:blipFill>
            <a:blip r:embed="rId3"/>
            <a:stretch>
              <a:fillRect l="0" t="0" r="0" b="0"/>
            </a:stretch>
          </a:blipFill>
        </p:spPr>
      </p:sp>
      <p:sp>
        <p:nvSpPr>
          <p:cNvPr name="TextBox 5" id="5"/>
          <p:cNvSpPr txBox="true"/>
          <p:nvPr/>
        </p:nvSpPr>
        <p:spPr>
          <a:xfrm rot="0">
            <a:off x="844560"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RESULTS AND DISCUSSION</a:t>
            </a:r>
          </a:p>
        </p:txBody>
      </p:sp>
      <p:sp>
        <p:nvSpPr>
          <p:cNvPr name="TextBox 6" id="6"/>
          <p:cNvSpPr txBox="true"/>
          <p:nvPr/>
        </p:nvSpPr>
        <p:spPr>
          <a:xfrm rot="0">
            <a:off x="844571" y="2010803"/>
            <a:ext cx="16230594" cy="421005"/>
          </a:xfrm>
          <a:prstGeom prst="rect">
            <a:avLst/>
          </a:prstGeom>
        </p:spPr>
        <p:txBody>
          <a:bodyPr anchor="t" rtlCol="false" tIns="0" lIns="0" bIns="0" rIns="0">
            <a:spAutoFit/>
          </a:bodyPr>
          <a:lstStyle/>
          <a:p>
            <a:pPr algn="l">
              <a:lnSpc>
                <a:spcPts val="3300"/>
              </a:lnSpc>
            </a:pPr>
            <a:r>
              <a:rPr lang="en-US" b="true" sz="2200">
                <a:solidFill>
                  <a:srgbClr val="2B2C30"/>
                </a:solidFill>
                <a:latin typeface="Public Sans Bold"/>
                <a:ea typeface="Public Sans Bold"/>
                <a:cs typeface="Public Sans Bold"/>
                <a:sym typeface="Public Sans Bold"/>
              </a:rPr>
              <a:t>EFFICIENT NET</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844571" y="1824656"/>
            <a:ext cx="16230594" cy="38509"/>
          </a:xfrm>
          <a:prstGeom prst="line">
            <a:avLst/>
          </a:prstGeom>
          <a:ln cap="flat" w="9525">
            <a:solidFill>
              <a:srgbClr val="2B2C30"/>
            </a:solidFill>
            <a:prstDash val="solid"/>
            <a:headEnd type="none" len="sm" w="sm"/>
            <a:tailEnd type="none" len="sm" w="sm"/>
          </a:ln>
        </p:spPr>
      </p:sp>
      <p:sp>
        <p:nvSpPr>
          <p:cNvPr name="Freeform 3" id="3"/>
          <p:cNvSpPr/>
          <p:nvPr/>
        </p:nvSpPr>
        <p:spPr>
          <a:xfrm flipH="false" flipV="false" rot="0">
            <a:off x="15293825" y="8730122"/>
            <a:ext cx="2994175" cy="1556878"/>
          </a:xfrm>
          <a:custGeom>
            <a:avLst/>
            <a:gdLst/>
            <a:ahLst/>
            <a:cxnLst/>
            <a:rect r="r" b="b" t="t" l="l"/>
            <a:pathLst>
              <a:path h="1556878" w="2994175">
                <a:moveTo>
                  <a:pt x="0" y="0"/>
                </a:moveTo>
                <a:lnTo>
                  <a:pt x="2994175" y="0"/>
                </a:lnTo>
                <a:lnTo>
                  <a:pt x="2994175" y="1556878"/>
                </a:lnTo>
                <a:lnTo>
                  <a:pt x="0" y="1556878"/>
                </a:lnTo>
                <a:lnTo>
                  <a:pt x="0" y="0"/>
                </a:lnTo>
                <a:close/>
              </a:path>
            </a:pathLst>
          </a:custGeom>
          <a:blipFill>
            <a:blip r:embed="rId2"/>
            <a:stretch>
              <a:fillRect l="-16444" t="-90820" r="-20598" b="-72738"/>
            </a:stretch>
          </a:blipFill>
        </p:spPr>
      </p:sp>
      <p:sp>
        <p:nvSpPr>
          <p:cNvPr name="Freeform 4" id="4"/>
          <p:cNvSpPr/>
          <p:nvPr/>
        </p:nvSpPr>
        <p:spPr>
          <a:xfrm flipH="false" flipV="false" rot="0">
            <a:off x="844560" y="2660407"/>
            <a:ext cx="4658009" cy="7509031"/>
          </a:xfrm>
          <a:custGeom>
            <a:avLst/>
            <a:gdLst/>
            <a:ahLst/>
            <a:cxnLst/>
            <a:rect r="r" b="b" t="t" l="l"/>
            <a:pathLst>
              <a:path h="7509031" w="4658009">
                <a:moveTo>
                  <a:pt x="0" y="0"/>
                </a:moveTo>
                <a:lnTo>
                  <a:pt x="4658009" y="0"/>
                </a:lnTo>
                <a:lnTo>
                  <a:pt x="4658009" y="7509032"/>
                </a:lnTo>
                <a:lnTo>
                  <a:pt x="0" y="7509032"/>
                </a:lnTo>
                <a:lnTo>
                  <a:pt x="0" y="0"/>
                </a:lnTo>
                <a:close/>
              </a:path>
            </a:pathLst>
          </a:custGeom>
          <a:blipFill>
            <a:blip r:embed="rId3"/>
            <a:stretch>
              <a:fillRect l="0" t="0" r="0" b="0"/>
            </a:stretch>
          </a:blipFill>
        </p:spPr>
      </p:sp>
      <p:sp>
        <p:nvSpPr>
          <p:cNvPr name="Freeform 5" id="5"/>
          <p:cNvSpPr/>
          <p:nvPr/>
        </p:nvSpPr>
        <p:spPr>
          <a:xfrm flipH="false" flipV="false" rot="0">
            <a:off x="6015478" y="2660407"/>
            <a:ext cx="11059682" cy="4862275"/>
          </a:xfrm>
          <a:custGeom>
            <a:avLst/>
            <a:gdLst/>
            <a:ahLst/>
            <a:cxnLst/>
            <a:rect r="r" b="b" t="t" l="l"/>
            <a:pathLst>
              <a:path h="4862275" w="11059682">
                <a:moveTo>
                  <a:pt x="0" y="0"/>
                </a:moveTo>
                <a:lnTo>
                  <a:pt x="11059682" y="0"/>
                </a:lnTo>
                <a:lnTo>
                  <a:pt x="11059682" y="4862275"/>
                </a:lnTo>
                <a:lnTo>
                  <a:pt x="0" y="4862275"/>
                </a:lnTo>
                <a:lnTo>
                  <a:pt x="0" y="0"/>
                </a:lnTo>
                <a:close/>
              </a:path>
            </a:pathLst>
          </a:custGeom>
          <a:blipFill>
            <a:blip r:embed="rId4"/>
            <a:stretch>
              <a:fillRect l="0" t="0" r="0" b="0"/>
            </a:stretch>
          </a:blipFill>
        </p:spPr>
      </p:sp>
      <p:sp>
        <p:nvSpPr>
          <p:cNvPr name="TextBox 6" id="6"/>
          <p:cNvSpPr txBox="true"/>
          <p:nvPr/>
        </p:nvSpPr>
        <p:spPr>
          <a:xfrm rot="0">
            <a:off x="844560"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RESULTS AND DISCUSSION</a:t>
            </a:r>
          </a:p>
        </p:txBody>
      </p:sp>
      <p:sp>
        <p:nvSpPr>
          <p:cNvPr name="TextBox 7" id="7"/>
          <p:cNvSpPr txBox="true"/>
          <p:nvPr/>
        </p:nvSpPr>
        <p:spPr>
          <a:xfrm rot="0">
            <a:off x="844571" y="2010803"/>
            <a:ext cx="16230594" cy="421005"/>
          </a:xfrm>
          <a:prstGeom prst="rect">
            <a:avLst/>
          </a:prstGeom>
        </p:spPr>
        <p:txBody>
          <a:bodyPr anchor="t" rtlCol="false" tIns="0" lIns="0" bIns="0" rIns="0">
            <a:spAutoFit/>
          </a:bodyPr>
          <a:lstStyle/>
          <a:p>
            <a:pPr algn="l">
              <a:lnSpc>
                <a:spcPts val="3300"/>
              </a:lnSpc>
            </a:pPr>
            <a:r>
              <a:rPr lang="en-US" b="true" sz="2200">
                <a:solidFill>
                  <a:srgbClr val="2B2C30"/>
                </a:solidFill>
                <a:latin typeface="Public Sans Bold"/>
                <a:ea typeface="Public Sans Bold"/>
                <a:cs typeface="Public Sans Bold"/>
                <a:sym typeface="Public Sans Bold"/>
              </a:rPr>
              <a:t>XCEPTION MODEL</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844571" y="1824656"/>
            <a:ext cx="16230594" cy="38509"/>
          </a:xfrm>
          <a:prstGeom prst="line">
            <a:avLst/>
          </a:prstGeom>
          <a:ln cap="flat" w="9525">
            <a:solidFill>
              <a:srgbClr val="2B2C30"/>
            </a:solidFill>
            <a:prstDash val="solid"/>
            <a:headEnd type="none" len="sm" w="sm"/>
            <a:tailEnd type="none" len="sm" w="sm"/>
          </a:ln>
        </p:spPr>
      </p:sp>
      <p:sp>
        <p:nvSpPr>
          <p:cNvPr name="Freeform 3" id="3"/>
          <p:cNvSpPr/>
          <p:nvPr/>
        </p:nvSpPr>
        <p:spPr>
          <a:xfrm flipH="false" flipV="false" rot="0">
            <a:off x="15293825" y="8730122"/>
            <a:ext cx="2994175" cy="1556878"/>
          </a:xfrm>
          <a:custGeom>
            <a:avLst/>
            <a:gdLst/>
            <a:ahLst/>
            <a:cxnLst/>
            <a:rect r="r" b="b" t="t" l="l"/>
            <a:pathLst>
              <a:path h="1556878" w="2994175">
                <a:moveTo>
                  <a:pt x="0" y="0"/>
                </a:moveTo>
                <a:lnTo>
                  <a:pt x="2994175" y="0"/>
                </a:lnTo>
                <a:lnTo>
                  <a:pt x="2994175" y="1556878"/>
                </a:lnTo>
                <a:lnTo>
                  <a:pt x="0" y="1556878"/>
                </a:lnTo>
                <a:lnTo>
                  <a:pt x="0" y="0"/>
                </a:lnTo>
                <a:close/>
              </a:path>
            </a:pathLst>
          </a:custGeom>
          <a:blipFill>
            <a:blip r:embed="rId2"/>
            <a:stretch>
              <a:fillRect l="-16444" t="-90820" r="-20598" b="-72738"/>
            </a:stretch>
          </a:blipFill>
        </p:spPr>
      </p:sp>
      <p:sp>
        <p:nvSpPr>
          <p:cNvPr name="Freeform 4" id="4"/>
          <p:cNvSpPr/>
          <p:nvPr/>
        </p:nvSpPr>
        <p:spPr>
          <a:xfrm flipH="false" flipV="false" rot="0">
            <a:off x="111613" y="2738627"/>
            <a:ext cx="18064774" cy="4809746"/>
          </a:xfrm>
          <a:custGeom>
            <a:avLst/>
            <a:gdLst/>
            <a:ahLst/>
            <a:cxnLst/>
            <a:rect r="r" b="b" t="t" l="l"/>
            <a:pathLst>
              <a:path h="4809746" w="18064774">
                <a:moveTo>
                  <a:pt x="0" y="0"/>
                </a:moveTo>
                <a:lnTo>
                  <a:pt x="18064774" y="0"/>
                </a:lnTo>
                <a:lnTo>
                  <a:pt x="18064774" y="4809746"/>
                </a:lnTo>
                <a:lnTo>
                  <a:pt x="0" y="4809746"/>
                </a:lnTo>
                <a:lnTo>
                  <a:pt x="0" y="0"/>
                </a:lnTo>
                <a:close/>
              </a:path>
            </a:pathLst>
          </a:custGeom>
          <a:blipFill>
            <a:blip r:embed="rId3"/>
            <a:stretch>
              <a:fillRect l="0" t="0" r="0" b="0"/>
            </a:stretch>
          </a:blipFill>
        </p:spPr>
      </p:sp>
      <p:sp>
        <p:nvSpPr>
          <p:cNvPr name="TextBox 5" id="5"/>
          <p:cNvSpPr txBox="true"/>
          <p:nvPr/>
        </p:nvSpPr>
        <p:spPr>
          <a:xfrm rot="0">
            <a:off x="844560"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RESULTS AND DISCUSSION</a:t>
            </a:r>
          </a:p>
        </p:txBody>
      </p:sp>
      <p:sp>
        <p:nvSpPr>
          <p:cNvPr name="TextBox 6" id="6"/>
          <p:cNvSpPr txBox="true"/>
          <p:nvPr/>
        </p:nvSpPr>
        <p:spPr>
          <a:xfrm rot="0">
            <a:off x="844571" y="2010803"/>
            <a:ext cx="16230594" cy="421005"/>
          </a:xfrm>
          <a:prstGeom prst="rect">
            <a:avLst/>
          </a:prstGeom>
        </p:spPr>
        <p:txBody>
          <a:bodyPr anchor="t" rtlCol="false" tIns="0" lIns="0" bIns="0" rIns="0">
            <a:spAutoFit/>
          </a:bodyPr>
          <a:lstStyle/>
          <a:p>
            <a:pPr algn="l">
              <a:lnSpc>
                <a:spcPts val="3300"/>
              </a:lnSpc>
            </a:pPr>
            <a:r>
              <a:rPr lang="en-US" b="true" sz="2200">
                <a:solidFill>
                  <a:srgbClr val="2B2C30"/>
                </a:solidFill>
                <a:latin typeface="Public Sans Bold"/>
                <a:ea typeface="Public Sans Bold"/>
                <a:cs typeface="Public Sans Bold"/>
                <a:sym typeface="Public Sans Bold"/>
              </a:rPr>
              <a:t>XCEPTION MODEL</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844571" y="1824656"/>
            <a:ext cx="16230594" cy="38509"/>
          </a:xfrm>
          <a:prstGeom prst="line">
            <a:avLst/>
          </a:prstGeom>
          <a:ln cap="flat" w="9525">
            <a:solidFill>
              <a:srgbClr val="2B2C30"/>
            </a:solidFill>
            <a:prstDash val="solid"/>
            <a:headEnd type="none" len="sm" w="sm"/>
            <a:tailEnd type="none" len="sm" w="sm"/>
          </a:ln>
        </p:spPr>
      </p:sp>
      <p:sp>
        <p:nvSpPr>
          <p:cNvPr name="Freeform 3" id="3"/>
          <p:cNvSpPr/>
          <p:nvPr/>
        </p:nvSpPr>
        <p:spPr>
          <a:xfrm flipH="false" flipV="false" rot="0">
            <a:off x="15293825" y="8730122"/>
            <a:ext cx="2994175" cy="1556878"/>
          </a:xfrm>
          <a:custGeom>
            <a:avLst/>
            <a:gdLst/>
            <a:ahLst/>
            <a:cxnLst/>
            <a:rect r="r" b="b" t="t" l="l"/>
            <a:pathLst>
              <a:path h="1556878" w="2994175">
                <a:moveTo>
                  <a:pt x="0" y="0"/>
                </a:moveTo>
                <a:lnTo>
                  <a:pt x="2994175" y="0"/>
                </a:lnTo>
                <a:lnTo>
                  <a:pt x="2994175" y="1556878"/>
                </a:lnTo>
                <a:lnTo>
                  <a:pt x="0" y="1556878"/>
                </a:lnTo>
                <a:lnTo>
                  <a:pt x="0" y="0"/>
                </a:lnTo>
                <a:close/>
              </a:path>
            </a:pathLst>
          </a:custGeom>
          <a:blipFill>
            <a:blip r:embed="rId2"/>
            <a:stretch>
              <a:fillRect l="-16444" t="-90820" r="-20598" b="-72738"/>
            </a:stretch>
          </a:blipFill>
        </p:spPr>
      </p:sp>
      <p:sp>
        <p:nvSpPr>
          <p:cNvPr name="Freeform 4" id="4"/>
          <p:cNvSpPr/>
          <p:nvPr/>
        </p:nvSpPr>
        <p:spPr>
          <a:xfrm flipH="false" flipV="false" rot="0">
            <a:off x="844560" y="2660407"/>
            <a:ext cx="4712914" cy="7462945"/>
          </a:xfrm>
          <a:custGeom>
            <a:avLst/>
            <a:gdLst/>
            <a:ahLst/>
            <a:cxnLst/>
            <a:rect r="r" b="b" t="t" l="l"/>
            <a:pathLst>
              <a:path h="7462945" w="4712914">
                <a:moveTo>
                  <a:pt x="0" y="0"/>
                </a:moveTo>
                <a:lnTo>
                  <a:pt x="4712914" y="0"/>
                </a:lnTo>
                <a:lnTo>
                  <a:pt x="4712914" y="7462945"/>
                </a:lnTo>
                <a:lnTo>
                  <a:pt x="0" y="7462945"/>
                </a:lnTo>
                <a:lnTo>
                  <a:pt x="0" y="0"/>
                </a:lnTo>
                <a:close/>
              </a:path>
            </a:pathLst>
          </a:custGeom>
          <a:blipFill>
            <a:blip r:embed="rId3"/>
            <a:stretch>
              <a:fillRect l="0" t="0" r="0" b="0"/>
            </a:stretch>
          </a:blipFill>
        </p:spPr>
      </p:sp>
      <p:sp>
        <p:nvSpPr>
          <p:cNvPr name="Freeform 5" id="5"/>
          <p:cNvSpPr/>
          <p:nvPr/>
        </p:nvSpPr>
        <p:spPr>
          <a:xfrm flipH="false" flipV="false" rot="0">
            <a:off x="6142844" y="2660407"/>
            <a:ext cx="10648068" cy="4143830"/>
          </a:xfrm>
          <a:custGeom>
            <a:avLst/>
            <a:gdLst/>
            <a:ahLst/>
            <a:cxnLst/>
            <a:rect r="r" b="b" t="t" l="l"/>
            <a:pathLst>
              <a:path h="4143830" w="10648068">
                <a:moveTo>
                  <a:pt x="0" y="0"/>
                </a:moveTo>
                <a:lnTo>
                  <a:pt x="10648068" y="0"/>
                </a:lnTo>
                <a:lnTo>
                  <a:pt x="10648068" y="4143830"/>
                </a:lnTo>
                <a:lnTo>
                  <a:pt x="0" y="4143830"/>
                </a:lnTo>
                <a:lnTo>
                  <a:pt x="0" y="0"/>
                </a:lnTo>
                <a:close/>
              </a:path>
            </a:pathLst>
          </a:custGeom>
          <a:blipFill>
            <a:blip r:embed="rId4"/>
            <a:stretch>
              <a:fillRect l="0" t="0" r="0" b="0"/>
            </a:stretch>
          </a:blipFill>
        </p:spPr>
      </p:sp>
      <p:sp>
        <p:nvSpPr>
          <p:cNvPr name="TextBox 6" id="6"/>
          <p:cNvSpPr txBox="true"/>
          <p:nvPr/>
        </p:nvSpPr>
        <p:spPr>
          <a:xfrm rot="0">
            <a:off x="844560"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RESULTS AND DISCUSSION</a:t>
            </a:r>
          </a:p>
        </p:txBody>
      </p:sp>
      <p:sp>
        <p:nvSpPr>
          <p:cNvPr name="TextBox 7" id="7"/>
          <p:cNvSpPr txBox="true"/>
          <p:nvPr/>
        </p:nvSpPr>
        <p:spPr>
          <a:xfrm rot="0">
            <a:off x="844571" y="2010803"/>
            <a:ext cx="16230594" cy="421005"/>
          </a:xfrm>
          <a:prstGeom prst="rect">
            <a:avLst/>
          </a:prstGeom>
        </p:spPr>
        <p:txBody>
          <a:bodyPr anchor="t" rtlCol="false" tIns="0" lIns="0" bIns="0" rIns="0">
            <a:spAutoFit/>
          </a:bodyPr>
          <a:lstStyle/>
          <a:p>
            <a:pPr algn="l">
              <a:lnSpc>
                <a:spcPts val="3300"/>
              </a:lnSpc>
            </a:pPr>
            <a:r>
              <a:rPr lang="en-US" b="true" sz="2200">
                <a:solidFill>
                  <a:srgbClr val="2B2C30"/>
                </a:solidFill>
                <a:latin typeface="Public Sans Bold"/>
                <a:ea typeface="Public Sans Bold"/>
                <a:cs typeface="Public Sans Bold"/>
                <a:sym typeface="Public Sans Bold"/>
              </a:rPr>
              <a:t>RESNET MODEL</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844571" y="1824656"/>
            <a:ext cx="16230594" cy="38509"/>
          </a:xfrm>
          <a:prstGeom prst="line">
            <a:avLst/>
          </a:prstGeom>
          <a:ln cap="flat" w="9525">
            <a:solidFill>
              <a:srgbClr val="2B2C30"/>
            </a:solidFill>
            <a:prstDash val="solid"/>
            <a:headEnd type="none" len="sm" w="sm"/>
            <a:tailEnd type="none" len="sm" w="sm"/>
          </a:ln>
        </p:spPr>
      </p:sp>
      <p:sp>
        <p:nvSpPr>
          <p:cNvPr name="Freeform 3" id="3"/>
          <p:cNvSpPr/>
          <p:nvPr/>
        </p:nvSpPr>
        <p:spPr>
          <a:xfrm flipH="false" flipV="false" rot="0">
            <a:off x="15293825" y="8730122"/>
            <a:ext cx="2994175" cy="1556878"/>
          </a:xfrm>
          <a:custGeom>
            <a:avLst/>
            <a:gdLst/>
            <a:ahLst/>
            <a:cxnLst/>
            <a:rect r="r" b="b" t="t" l="l"/>
            <a:pathLst>
              <a:path h="1556878" w="2994175">
                <a:moveTo>
                  <a:pt x="0" y="0"/>
                </a:moveTo>
                <a:lnTo>
                  <a:pt x="2994175" y="0"/>
                </a:lnTo>
                <a:lnTo>
                  <a:pt x="2994175" y="1556878"/>
                </a:lnTo>
                <a:lnTo>
                  <a:pt x="0" y="1556878"/>
                </a:lnTo>
                <a:lnTo>
                  <a:pt x="0" y="0"/>
                </a:lnTo>
                <a:close/>
              </a:path>
            </a:pathLst>
          </a:custGeom>
          <a:blipFill>
            <a:blip r:embed="rId2"/>
            <a:stretch>
              <a:fillRect l="-16444" t="-90820" r="-20598" b="-72738"/>
            </a:stretch>
          </a:blipFill>
        </p:spPr>
      </p:sp>
      <p:sp>
        <p:nvSpPr>
          <p:cNvPr name="Freeform 4" id="4"/>
          <p:cNvSpPr/>
          <p:nvPr/>
        </p:nvSpPr>
        <p:spPr>
          <a:xfrm flipH="false" flipV="false" rot="0">
            <a:off x="147754" y="2765117"/>
            <a:ext cx="17992492" cy="4756765"/>
          </a:xfrm>
          <a:custGeom>
            <a:avLst/>
            <a:gdLst/>
            <a:ahLst/>
            <a:cxnLst/>
            <a:rect r="r" b="b" t="t" l="l"/>
            <a:pathLst>
              <a:path h="4756765" w="17992492">
                <a:moveTo>
                  <a:pt x="0" y="0"/>
                </a:moveTo>
                <a:lnTo>
                  <a:pt x="17992492" y="0"/>
                </a:lnTo>
                <a:lnTo>
                  <a:pt x="17992492" y="4756766"/>
                </a:lnTo>
                <a:lnTo>
                  <a:pt x="0" y="4756766"/>
                </a:lnTo>
                <a:lnTo>
                  <a:pt x="0" y="0"/>
                </a:lnTo>
                <a:close/>
              </a:path>
            </a:pathLst>
          </a:custGeom>
          <a:blipFill>
            <a:blip r:embed="rId3"/>
            <a:stretch>
              <a:fillRect l="0" t="0" r="0" b="0"/>
            </a:stretch>
          </a:blipFill>
        </p:spPr>
      </p:sp>
      <p:sp>
        <p:nvSpPr>
          <p:cNvPr name="TextBox 5" id="5"/>
          <p:cNvSpPr txBox="true"/>
          <p:nvPr/>
        </p:nvSpPr>
        <p:spPr>
          <a:xfrm rot="0">
            <a:off x="844560" y="942975"/>
            <a:ext cx="16230600" cy="651099"/>
          </a:xfrm>
          <a:prstGeom prst="rect">
            <a:avLst/>
          </a:prstGeom>
        </p:spPr>
        <p:txBody>
          <a:bodyPr anchor="t" rtlCol="false" tIns="0" lIns="0" bIns="0" rIns="0">
            <a:spAutoFit/>
          </a:bodyPr>
          <a:lstStyle/>
          <a:p>
            <a:pPr algn="l">
              <a:lnSpc>
                <a:spcPts val="5200"/>
              </a:lnSpc>
              <a:spcBef>
                <a:spcPct val="0"/>
              </a:spcBef>
            </a:pPr>
            <a:r>
              <a:rPr lang="en-US" b="true" sz="3714" spc="843">
                <a:solidFill>
                  <a:srgbClr val="2B2C30"/>
                </a:solidFill>
                <a:latin typeface="Public Sans Bold"/>
                <a:ea typeface="Public Sans Bold"/>
                <a:cs typeface="Public Sans Bold"/>
                <a:sym typeface="Public Sans Bold"/>
              </a:rPr>
              <a:t>RESULTS AND DISCUSSION</a:t>
            </a:r>
          </a:p>
        </p:txBody>
      </p:sp>
      <p:sp>
        <p:nvSpPr>
          <p:cNvPr name="TextBox 6" id="6"/>
          <p:cNvSpPr txBox="true"/>
          <p:nvPr/>
        </p:nvSpPr>
        <p:spPr>
          <a:xfrm rot="0">
            <a:off x="844571" y="2010803"/>
            <a:ext cx="16230594" cy="421005"/>
          </a:xfrm>
          <a:prstGeom prst="rect">
            <a:avLst/>
          </a:prstGeom>
        </p:spPr>
        <p:txBody>
          <a:bodyPr anchor="t" rtlCol="false" tIns="0" lIns="0" bIns="0" rIns="0">
            <a:spAutoFit/>
          </a:bodyPr>
          <a:lstStyle/>
          <a:p>
            <a:pPr algn="l">
              <a:lnSpc>
                <a:spcPts val="3300"/>
              </a:lnSpc>
            </a:pPr>
            <a:r>
              <a:rPr lang="en-US" b="true" sz="2200">
                <a:solidFill>
                  <a:srgbClr val="2B2C30"/>
                </a:solidFill>
                <a:latin typeface="Public Sans Bold"/>
                <a:ea typeface="Public Sans Bold"/>
                <a:cs typeface="Public Sans Bold"/>
                <a:sym typeface="Public Sans Bold"/>
              </a:rPr>
              <a:t>RESNET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DAHA82JpYKw</dc:identifier>
  <dcterms:modified xsi:type="dcterms:W3CDTF">2011-08-01T06:04:30Z</dcterms:modified>
  <cp:revision>1</cp:revision>
  <dc:title>Epics Project Review 1 PPT</dc:title>
</cp:coreProperties>
</file>